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94" r:id="rId3"/>
    <p:sldId id="296" r:id="rId4"/>
    <p:sldId id="297" r:id="rId5"/>
    <p:sldId id="298" r:id="rId6"/>
    <p:sldId id="299" r:id="rId7"/>
    <p:sldId id="275" r:id="rId8"/>
    <p:sldId id="257" r:id="rId9"/>
    <p:sldId id="272" r:id="rId10"/>
    <p:sldId id="258" r:id="rId11"/>
    <p:sldId id="288" r:id="rId12"/>
    <p:sldId id="259" r:id="rId13"/>
    <p:sldId id="267" r:id="rId14"/>
    <p:sldId id="261" r:id="rId15"/>
    <p:sldId id="295" r:id="rId16"/>
    <p:sldId id="287" r:id="rId17"/>
    <p:sldId id="262" r:id="rId18"/>
  </p:sldIdLst>
  <p:sldSz cx="12192000" cy="6858000"/>
  <p:notesSz cx="6858000" cy="9144000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0" autoAdjust="0"/>
    <p:restoredTop sz="90552" autoAdjust="0"/>
  </p:normalViewPr>
  <p:slideViewPr>
    <p:cSldViewPr showGuides="1">
      <p:cViewPr varScale="1">
        <p:scale>
          <a:sx n="87" d="100"/>
          <a:sy n="87" d="100"/>
        </p:scale>
        <p:origin x="504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829772B-5C2E-492C-B892-931530F2E27F}" type="datetimeFigureOut">
              <a:rPr lang="zh-CN" altLang="en-US"/>
              <a:t>2025/11/20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8622289-2A5F-4F68-B7B8-D2752219B5E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622289-2A5F-4F68-B7B8-D2752219B5E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622289-2A5F-4F68-B7B8-D2752219B5E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622289-2A5F-4F68-B7B8-D2752219B5E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01bk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6988"/>
            <a:ext cx="12192000" cy="650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3" descr="01bk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-26988"/>
            <a:ext cx="12192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609600" y="4124672"/>
            <a:ext cx="6604000" cy="1392560"/>
          </a:xfrm>
        </p:spPr>
        <p:txBody>
          <a:bodyPr/>
          <a:lstStyle>
            <a:lvl1pPr marL="64135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755" y="116632"/>
            <a:ext cx="10972800" cy="72008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124744"/>
            <a:ext cx="11593288" cy="54490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5712884" y="6446838"/>
            <a:ext cx="1016000" cy="366712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013FF9EA-23A7-448C-A6CA-525B8D78FAB3}" type="slidenum">
              <a:rPr lang="zh-CN" altLang="en-US" smtClean="0"/>
              <a:t>‹#›</a:t>
            </a:fld>
            <a:r>
              <a:rPr lang="en-US" altLang="zh-CN" dirty="0"/>
              <a:t>/9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E9C21-7DEB-4979-B2B1-5B80BCF0E57B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33826-3D83-45A7-8D55-40A0EA387637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26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3376234-74C7-4693-894E-EE99963926F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0898717" y="1588"/>
            <a:ext cx="1016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20DFC-1584-432B-A1A4-39EA1A2617F3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4" name="灯片编号占位符 5"/>
          <p:cNvSpPr txBox="1"/>
          <p:nvPr userDrawn="1"/>
        </p:nvSpPr>
        <p:spPr>
          <a:xfrm>
            <a:off x="5712884" y="6446838"/>
            <a:ext cx="1016000" cy="366712"/>
          </a:xfrm>
          <a:prstGeom prst="rect">
            <a:avLst/>
          </a:prstGeom>
        </p:spPr>
        <p:txBody>
          <a:bodyPr vert="horz" anchor="b"/>
          <a:lstStyle>
            <a:defPPr>
              <a:defRPr lang="zh-CN"/>
            </a:defPPr>
            <a:lvl1pPr algn="ctr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0"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013FF9EA-23A7-448C-A6CA-525B8D78FAB3}" type="slidenum">
              <a:rPr lang="zh-CN" altLang="en-US" smtClean="0"/>
              <a:t>‹#›</a:t>
            </a:fld>
            <a:r>
              <a:rPr lang="en-US" altLang="zh-CN"/>
              <a:t>/10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/>
          <p:nvPr userDrawn="1"/>
        </p:nvSpPr>
        <p:spPr>
          <a:xfrm>
            <a:off x="5712884" y="6446838"/>
            <a:ext cx="1016000" cy="366712"/>
          </a:xfrm>
          <a:prstGeom prst="rect">
            <a:avLst/>
          </a:prstGeom>
        </p:spPr>
        <p:txBody>
          <a:bodyPr vert="horz" anchor="b"/>
          <a:lstStyle>
            <a:defPPr>
              <a:defRPr lang="zh-CN"/>
            </a:defPPr>
            <a:lvl1pPr algn="ctr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0"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013FF9EA-23A7-448C-A6CA-525B8D78FAB3}" type="slidenum">
              <a:rPr lang="zh-CN" altLang="en-US" smtClean="0"/>
              <a:t>‹#›</a:t>
            </a:fld>
            <a:r>
              <a:rPr lang="en-US" altLang="zh-CN" dirty="0"/>
              <a:t>/9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889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927D6-B814-4D93-8D10-32ED6A2C8F98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C5C6F-0D58-480A-9A3A-F3DAABC6F726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1E558-C5D5-4791-9AC9-2A1743156E35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46075-78D8-4B7A-92B3-EAF3CDA8B7D2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5"/>
          <p:cNvSpPr/>
          <p:nvPr userDrawn="1"/>
        </p:nvSpPr>
        <p:spPr>
          <a:xfrm>
            <a:off x="0" y="0"/>
            <a:ext cx="12192000" cy="3500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1800"/>
          </a:p>
        </p:txBody>
      </p:sp>
      <p:sp>
        <p:nvSpPr>
          <p:cNvPr id="50" name="Rectangle 6"/>
          <p:cNvSpPr/>
          <p:nvPr userDrawn="1"/>
        </p:nvSpPr>
        <p:spPr>
          <a:xfrm>
            <a:off x="0" y="692150"/>
            <a:ext cx="12192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1800"/>
          </a:p>
        </p:txBody>
      </p:sp>
      <p:sp>
        <p:nvSpPr>
          <p:cNvPr id="1030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609600" y="1700214"/>
            <a:ext cx="10972800" cy="4873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0951633" y="6381751"/>
            <a:ext cx="101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kumimoji="0" sz="18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2EA81C2-FB25-44B0-BAF0-B195EE262E6D}" type="slidenum">
              <a:rPr lang="zh-CN" altLang="en-US"/>
              <a:t>‹#›</a:t>
            </a:fld>
            <a:endParaRPr lang="zh-CN" altLang="en-US" dirty="0"/>
          </a:p>
        </p:txBody>
      </p:sp>
      <p:pic>
        <p:nvPicPr>
          <p:cNvPr id="1032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-14817" y="134938"/>
            <a:ext cx="12206817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标题占位符 21"/>
          <p:cNvSpPr>
            <a:spLocks noGrp="1"/>
          </p:cNvSpPr>
          <p:nvPr>
            <p:ph type="title"/>
          </p:nvPr>
        </p:nvSpPr>
        <p:spPr bwMode="auto">
          <a:xfrm>
            <a:off x="116417" y="274638"/>
            <a:ext cx="10972800" cy="1066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24458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44583"/>
          </a:solidFill>
          <a:latin typeface="Franklin Gothic Medium" panose="020B0603020102020204" pitchFamily="34" charset="0"/>
          <a:ea typeface="微软雅黑" panose="020B0503020204020204" pitchFamily="34" charset="-122"/>
        </a:defRPr>
      </a:lvl9pPr>
    </p:titleStyle>
    <p:bodyStyle>
      <a:lvl1pPr marL="365125" indent="-255905" algn="l" rtl="0" eaLnBrk="0" fontAlgn="base" hangingPunct="0">
        <a:spcBef>
          <a:spcPts val="300"/>
        </a:spcBef>
        <a:spcAft>
          <a:spcPct val="0"/>
        </a:spcAft>
        <a:buClr>
          <a:srgbClr val="B32C16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57225" indent="-24638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rgbClr val="244583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22655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rgbClr val="244583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179830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rgbClr val="244583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389380" indent="-182880" algn="l" rtl="0" eaLnBrk="0" fontAlgn="base" hangingPunct="0">
        <a:spcBef>
          <a:spcPts val="300"/>
        </a:spcBef>
        <a:spcAft>
          <a:spcPct val="0"/>
        </a:spcAft>
        <a:buClr>
          <a:srgbClr val="B32C16"/>
        </a:buClr>
        <a:buFont typeface="Georgia" panose="02040502050405020303" pitchFamily="18" charset="0"/>
        <a:buChar char="▫"/>
        <a:defRPr sz="2000" kern="1200">
          <a:solidFill>
            <a:srgbClr val="244583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609090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30095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68950000" TargetMode="External"/><Relationship Id="rId2" Type="http://schemas.openxmlformats.org/officeDocument/2006/relationships/hyperlink" Target="https://www.runoob.com/sql/sql-injection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47298" y="1476915"/>
            <a:ext cx="8686800" cy="14700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sz="4800" dirty="0" smtClean="0"/>
              <a:t>注入</a:t>
            </a:r>
            <a:r>
              <a:rPr lang="zh-CN" altLang="en-US" sz="4800" dirty="0"/>
              <a:t>及其</a:t>
            </a:r>
            <a:r>
              <a:rPr lang="zh-CN" altLang="en-US" sz="4800" dirty="0" smtClean="0"/>
              <a:t>防御</a:t>
            </a:r>
            <a:r>
              <a:rPr lang="zh-CN" altLang="en-US" sz="4800" dirty="0" smtClean="0"/>
              <a:t>策略</a:t>
            </a:r>
            <a:endParaRPr lang="zh-CN" altLang="en-US" sz="4800" dirty="0"/>
          </a:p>
        </p:txBody>
      </p:sp>
      <p:pic>
        <p:nvPicPr>
          <p:cNvPr id="614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31301" y="188913"/>
            <a:ext cx="1285875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/>
          <p:nvPr/>
        </p:nvSpPr>
        <p:spPr bwMode="auto">
          <a:xfrm>
            <a:off x="1738282" y="3717033"/>
            <a:ext cx="8686800" cy="147002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b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44583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3600" dirty="0" smtClean="0"/>
              <a:t>S25051108 </a:t>
            </a:r>
            <a:r>
              <a:rPr lang="zh-CN" altLang="en-US" sz="3600" dirty="0" smtClean="0"/>
              <a:t>李昕奇 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 smtClean="0"/>
              <a:t>注入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dirty="0"/>
              <a:t>	</a:t>
            </a:r>
            <a:r>
              <a:rPr lang="en-US" altLang="zh-CN" dirty="0"/>
              <a:t>SQL </a:t>
            </a:r>
            <a:r>
              <a:rPr lang="zh-CN" altLang="en-US" dirty="0"/>
              <a:t>注入（</a:t>
            </a:r>
            <a:r>
              <a:rPr lang="en-US" altLang="zh-CN" dirty="0"/>
              <a:t>SQL Injection</a:t>
            </a:r>
            <a:r>
              <a:rPr lang="zh-CN" altLang="en-US" dirty="0"/>
              <a:t>）是一种常见的网络攻击手段，攻击者通过在输入字段或请求中注入恶意的 </a:t>
            </a:r>
            <a:r>
              <a:rPr lang="en-US" altLang="zh-CN" dirty="0"/>
              <a:t>SQL </a:t>
            </a:r>
            <a:r>
              <a:rPr lang="zh-CN" altLang="en-US" dirty="0"/>
              <a:t>语句，操控数据库执行意图之外的操作。</a:t>
            </a:r>
          </a:p>
          <a:p>
            <a:pPr marL="109220" indent="0">
              <a:buNone/>
            </a:pPr>
            <a:endParaRPr lang="zh-CN" altLang="en-US" dirty="0"/>
          </a:p>
          <a:p>
            <a:pPr marL="109220" indent="0">
              <a:buNone/>
            </a:pPr>
            <a:r>
              <a:rPr lang="zh-CN" altLang="en-US" dirty="0"/>
              <a:t>其目标通常是：</a:t>
            </a:r>
          </a:p>
          <a:p>
            <a:pPr marL="109220" indent="0">
              <a:buNone/>
            </a:pPr>
            <a:endParaRPr lang="zh-CN" altLang="en-US" dirty="0"/>
          </a:p>
          <a:p>
            <a:pPr marL="109220" indent="0">
              <a:buNone/>
            </a:pPr>
            <a:r>
              <a:rPr lang="en-US" altLang="zh-CN" dirty="0" smtClean="0"/>
              <a:t>	1.</a:t>
            </a:r>
            <a:r>
              <a:rPr lang="zh-CN" altLang="en-US" dirty="0" smtClean="0"/>
              <a:t>窃取</a:t>
            </a:r>
            <a:r>
              <a:rPr lang="zh-CN" altLang="en-US" dirty="0"/>
              <a:t>敏感数据</a:t>
            </a:r>
          </a:p>
          <a:p>
            <a:pPr marL="109220" indent="0">
              <a:buNone/>
            </a:pPr>
            <a:r>
              <a:rPr lang="en-US" altLang="zh-CN" dirty="0" smtClean="0"/>
              <a:t>	2.</a:t>
            </a:r>
            <a:r>
              <a:rPr lang="zh-CN" altLang="en-US" dirty="0" smtClean="0"/>
              <a:t>绕</a:t>
            </a:r>
            <a:r>
              <a:rPr lang="zh-CN" altLang="en-US" dirty="0"/>
              <a:t>过身份验证</a:t>
            </a:r>
          </a:p>
          <a:p>
            <a:pPr marL="109220" indent="0">
              <a:buNone/>
            </a:pPr>
            <a:r>
              <a:rPr lang="en-US" altLang="zh-CN" dirty="0" smtClean="0"/>
              <a:t>	3.</a:t>
            </a:r>
            <a:r>
              <a:rPr lang="zh-CN" altLang="en-US" dirty="0" smtClean="0"/>
              <a:t>修改</a:t>
            </a:r>
            <a:r>
              <a:rPr lang="zh-CN" altLang="en-US" dirty="0"/>
              <a:t>、删除数据库内容</a:t>
            </a:r>
          </a:p>
          <a:p>
            <a:pPr marL="109220" indent="0">
              <a:buNone/>
            </a:pPr>
            <a:r>
              <a:rPr lang="en-US" altLang="zh-CN" dirty="0" smtClean="0"/>
              <a:t>	4.</a:t>
            </a:r>
            <a:r>
              <a:rPr lang="zh-CN" altLang="en-US" dirty="0" smtClean="0"/>
              <a:t>执行</a:t>
            </a:r>
            <a:r>
              <a:rPr lang="zh-CN" altLang="en-US" dirty="0"/>
              <a:t>系统命令</a:t>
            </a:r>
            <a:r>
              <a:rPr lang="zh-CN" altLang="en-US" dirty="0" smtClean="0"/>
              <a:t>等</a:t>
            </a:r>
            <a:r>
              <a:rPr lang="en-US" altLang="zh-CN" dirty="0" smtClean="0"/>
              <a:t>[1]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73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 smtClean="0"/>
              <a:t>注入举例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当用户登录网站时，通常会输入用户名和密码。</a:t>
            </a:r>
          </a:p>
          <a:p>
            <a:endParaRPr lang="zh-CN" altLang="en-US" dirty="0"/>
          </a:p>
          <a:p>
            <a:r>
              <a:rPr lang="zh-CN" altLang="en-US" sz="2400" dirty="0"/>
              <a:t>以下是一段正常的 </a:t>
            </a:r>
            <a:r>
              <a:rPr lang="en-US" altLang="zh-CN" sz="2400" dirty="0"/>
              <a:t>SQL </a:t>
            </a:r>
            <a:r>
              <a:rPr lang="zh-CN" altLang="en-US" sz="2400" dirty="0"/>
              <a:t>查询</a:t>
            </a:r>
            <a:r>
              <a:rPr lang="zh-CN" altLang="en-US" sz="2400" dirty="0" smtClean="0"/>
              <a:t>代码示例：</a:t>
            </a:r>
            <a:endParaRPr lang="en-US" altLang="zh-CN" sz="2400" dirty="0" smtClean="0"/>
          </a:p>
          <a:p>
            <a:r>
              <a:rPr lang="en-US" altLang="zh-CN" sz="2400" dirty="0" smtClean="0"/>
              <a:t>SELECT </a:t>
            </a:r>
            <a:r>
              <a:rPr lang="en-US" altLang="zh-CN" sz="2400" dirty="0"/>
              <a:t>* FROM users WHERE username = 'user1' AND password = 'password1</a:t>
            </a:r>
            <a:r>
              <a:rPr lang="en-US" altLang="zh-CN" sz="2400" dirty="0" smtClean="0"/>
              <a:t>'; </a:t>
            </a:r>
          </a:p>
          <a:p>
            <a:r>
              <a:rPr lang="en-US" altLang="zh-CN" sz="2400" dirty="0" smtClean="0"/>
              <a:t>-- </a:t>
            </a:r>
            <a:r>
              <a:rPr lang="zh-CN" altLang="en-US" sz="2400" dirty="0" smtClean="0"/>
              <a:t>从</a:t>
            </a:r>
            <a:r>
              <a:rPr lang="en-US" altLang="zh-CN" sz="2400" dirty="0" smtClean="0"/>
              <a:t>user</a:t>
            </a:r>
            <a:r>
              <a:rPr lang="zh-CN" altLang="en-US" sz="2400" dirty="0" smtClean="0"/>
              <a:t>表中查询所有用户名为</a:t>
            </a:r>
            <a:r>
              <a:rPr lang="en-US" altLang="zh-CN" sz="2400" dirty="0" smtClean="0"/>
              <a:t>user1</a:t>
            </a:r>
            <a:r>
              <a:rPr lang="zh-CN" altLang="en-US" sz="2400" dirty="0" smtClean="0"/>
              <a:t>且密码为</a:t>
            </a:r>
            <a:r>
              <a:rPr lang="en-US" altLang="zh-CN" sz="2400" dirty="0" smtClean="0"/>
              <a:t>password1</a:t>
            </a:r>
            <a:r>
              <a:rPr lang="zh-CN" altLang="en-US" sz="2400" dirty="0" smtClean="0"/>
              <a:t>的结果并返回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/>
              <a:t>如果攻击者输入</a:t>
            </a:r>
            <a:r>
              <a:rPr lang="zh-CN" altLang="en-US" sz="2400" dirty="0"/>
              <a:t>：用户名： </a:t>
            </a:r>
            <a:r>
              <a:rPr lang="en-US" altLang="zh-CN" sz="2400" dirty="0" smtClean="0"/>
              <a:t>admin‘ --, </a:t>
            </a:r>
            <a:r>
              <a:rPr lang="zh-CN" altLang="en-US" sz="2400" dirty="0" smtClean="0"/>
              <a:t>密码</a:t>
            </a:r>
            <a:r>
              <a:rPr lang="zh-CN" altLang="en-US" sz="2400" dirty="0"/>
              <a:t>： 任意</a:t>
            </a:r>
            <a:r>
              <a:rPr lang="zh-CN" altLang="en-US" sz="2400" dirty="0" smtClean="0"/>
              <a:t>密码</a:t>
            </a:r>
            <a:endParaRPr lang="en-US" altLang="zh-CN" sz="2400" dirty="0" smtClean="0"/>
          </a:p>
          <a:p>
            <a:r>
              <a:rPr lang="zh-CN" altLang="en-US" sz="2400" dirty="0" smtClean="0"/>
              <a:t>则</a:t>
            </a:r>
            <a:r>
              <a:rPr lang="en-US" altLang="zh-CN" sz="2400" dirty="0" smtClean="0"/>
              <a:t>SQL </a:t>
            </a:r>
            <a:r>
              <a:rPr lang="zh-CN" altLang="en-US" sz="2400" dirty="0"/>
              <a:t>查询变成：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SELECT * FROM users WHERE username = 'admin' --' AND password = 'anything</a:t>
            </a:r>
            <a:r>
              <a:rPr lang="en-US" altLang="zh-CN" sz="2400" dirty="0" smtClean="0"/>
              <a:t>'; </a:t>
            </a:r>
          </a:p>
          <a:p>
            <a:r>
              <a:rPr lang="en-US" altLang="zh-CN" sz="2400" dirty="0" smtClean="0"/>
              <a:t>-- </a:t>
            </a:r>
            <a:r>
              <a:rPr lang="zh-CN" altLang="en-US" sz="2400" dirty="0" smtClean="0"/>
              <a:t>实际执行的语句为</a:t>
            </a:r>
            <a:r>
              <a:rPr lang="en-US" altLang="zh-CN" sz="2400" dirty="0"/>
              <a:t>SELECT * FROM users </a:t>
            </a:r>
            <a:r>
              <a:rPr lang="en-US" altLang="zh-CN" sz="2400" dirty="0" smtClean="0"/>
              <a:t>WHERE </a:t>
            </a:r>
            <a:r>
              <a:rPr lang="en-US" altLang="zh-CN" sz="2400" dirty="0"/>
              <a:t>username = 'admin'</a:t>
            </a:r>
            <a:endParaRPr lang="en-US" altLang="zh-CN" sz="2400" dirty="0" smtClean="0"/>
          </a:p>
          <a:p>
            <a:r>
              <a:rPr lang="zh-CN" altLang="en-US" sz="2400" dirty="0"/>
              <a:t>其中 </a:t>
            </a:r>
            <a:r>
              <a:rPr lang="en-US" altLang="zh-CN" sz="2400" dirty="0"/>
              <a:t>-- </a:t>
            </a:r>
            <a:r>
              <a:rPr lang="zh-CN" altLang="en-US" sz="2400" dirty="0"/>
              <a:t>是 </a:t>
            </a:r>
            <a:r>
              <a:rPr lang="en-US" altLang="zh-CN" sz="2400" dirty="0"/>
              <a:t>SQL </a:t>
            </a:r>
            <a:r>
              <a:rPr lang="zh-CN" altLang="en-US" sz="2400" dirty="0"/>
              <a:t>的注释符号，忽略了密码条件，直接绕过了身份验证</a:t>
            </a:r>
            <a:r>
              <a:rPr lang="zh-CN" altLang="en-US" sz="2400" dirty="0" smtClean="0"/>
              <a:t>。</a:t>
            </a:r>
            <a:r>
              <a:rPr lang="en-US" altLang="zh-CN" sz="2400" dirty="0" smtClean="0"/>
              <a:t>[1]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60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altLang="zh-CN" dirty="0"/>
              <a:t> </a:t>
            </a:r>
            <a:r>
              <a:rPr lang="zh-CN" altLang="en-US" dirty="0"/>
              <a:t>注入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en-US" sz="2400" dirty="0" smtClean="0"/>
              <a:t>基础型 </a:t>
            </a:r>
            <a:r>
              <a:rPr lang="en-US" altLang="zh-CN" sz="2400" dirty="0"/>
              <a:t>SQL </a:t>
            </a:r>
            <a:r>
              <a:rPr lang="zh-CN" altLang="en-US" sz="2400" dirty="0" smtClean="0"/>
              <a:t>注入</a:t>
            </a: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400" dirty="0" smtClean="0"/>
              <a:t>	</a:t>
            </a:r>
            <a:r>
              <a:rPr lang="zh-CN" altLang="en-US" sz="2000" dirty="0" smtClean="0"/>
              <a:t>直接</a:t>
            </a:r>
            <a:r>
              <a:rPr lang="zh-CN" altLang="en-US" sz="2000" dirty="0"/>
              <a:t>将恶意 </a:t>
            </a:r>
            <a:r>
              <a:rPr lang="en-US" altLang="zh-CN" sz="2000" dirty="0"/>
              <a:t>SQL </a:t>
            </a:r>
            <a:r>
              <a:rPr lang="zh-CN" altLang="en-US" sz="2000" dirty="0"/>
              <a:t>代码嵌入用户输入中，并影响查询逻辑。</a:t>
            </a:r>
            <a:endParaRPr lang="en-US" altLang="zh-CN" sz="2000" dirty="0" smtClean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UNION </a:t>
            </a:r>
            <a:r>
              <a:rPr lang="zh-CN" altLang="en-US" sz="2400" dirty="0"/>
              <a:t>查询</a:t>
            </a:r>
            <a:r>
              <a:rPr lang="zh-CN" altLang="en-US" sz="2400" dirty="0" smtClean="0"/>
              <a:t>注入</a:t>
            </a: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通过 </a:t>
            </a:r>
            <a:r>
              <a:rPr lang="en-US" altLang="zh-CN" sz="2000" dirty="0"/>
              <a:t>UNION </a:t>
            </a:r>
            <a:r>
              <a:rPr lang="zh-CN" altLang="en-US" sz="2000" dirty="0"/>
              <a:t>将攻击者构造的查询结果与合法查询结果合并，从而获取敏感数据。</a:t>
            </a:r>
            <a:endParaRPr lang="en-US" altLang="zh-CN" sz="2000" dirty="0" smtClean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、错误型 </a:t>
            </a:r>
            <a:r>
              <a:rPr lang="en-US" altLang="zh-CN" sz="2400" dirty="0"/>
              <a:t>SQL </a:t>
            </a:r>
            <a:r>
              <a:rPr lang="zh-CN" altLang="en-US" sz="2400" dirty="0" smtClean="0"/>
              <a:t>注入</a:t>
            </a: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通过</a:t>
            </a:r>
            <a:r>
              <a:rPr lang="zh-CN" altLang="en-US" sz="2000" dirty="0"/>
              <a:t>故意触发数据库错误，利用错误信息推测表名、列名或数据。</a:t>
            </a:r>
            <a:endParaRPr lang="en-US" altLang="zh-CN" sz="2000" dirty="0" smtClean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、盲</a:t>
            </a:r>
            <a:r>
              <a:rPr lang="zh-CN" altLang="en-US" sz="2400" dirty="0" smtClean="0"/>
              <a:t>注</a:t>
            </a: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无法</a:t>
            </a:r>
            <a:r>
              <a:rPr lang="zh-CN" altLang="en-US" sz="2000" dirty="0"/>
              <a:t>直接获取查询结果，攻击者通过判断返回页面的响应（如布尔值或时间延迟）来逐步推测数据。</a:t>
            </a:r>
            <a:endParaRPr lang="en-US" altLang="zh-CN" sz="2000" dirty="0" smtClean="0"/>
          </a:p>
          <a:p>
            <a:r>
              <a:rPr lang="en-US" altLang="zh-CN" sz="2400" dirty="0"/>
              <a:t>5</a:t>
            </a:r>
            <a:r>
              <a:rPr lang="zh-CN" altLang="en-US" sz="2400" dirty="0"/>
              <a:t>、堆叠查询</a:t>
            </a:r>
            <a:r>
              <a:rPr lang="zh-CN" altLang="en-US" sz="2400" dirty="0" smtClean="0"/>
              <a:t>注入</a:t>
            </a: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允许</a:t>
            </a:r>
            <a:r>
              <a:rPr lang="zh-CN" altLang="en-US" sz="2000" dirty="0"/>
              <a:t>多条 </a:t>
            </a:r>
            <a:r>
              <a:rPr lang="en-US" altLang="zh-CN" sz="2000" dirty="0"/>
              <a:t>SQL </a:t>
            </a:r>
            <a:r>
              <a:rPr lang="zh-CN" altLang="en-US" sz="2000" dirty="0"/>
              <a:t>语句同时执行。</a:t>
            </a:r>
            <a:endParaRPr lang="en-US" altLang="zh-CN" sz="2000" dirty="0" smtClean="0"/>
          </a:p>
          <a:p>
            <a:r>
              <a:rPr lang="en-US" altLang="zh-CN" sz="2400" dirty="0"/>
              <a:t>6</a:t>
            </a:r>
            <a:r>
              <a:rPr lang="zh-CN" altLang="en-US" sz="2400" dirty="0"/>
              <a:t>、存储过程</a:t>
            </a:r>
            <a:r>
              <a:rPr lang="zh-CN" altLang="en-US" sz="2400" dirty="0" smtClean="0"/>
              <a:t>注入</a:t>
            </a: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400" dirty="0"/>
              <a:t>	</a:t>
            </a:r>
            <a:r>
              <a:rPr lang="zh-CN" altLang="en-US" sz="2000" dirty="0"/>
              <a:t>利用存储过程的输入参数注入恶意 </a:t>
            </a:r>
            <a:r>
              <a:rPr lang="en-US" altLang="zh-CN" sz="2000" dirty="0"/>
              <a:t>SQL</a:t>
            </a:r>
            <a:r>
              <a:rPr lang="zh-CN" altLang="en-US" sz="2000" dirty="0"/>
              <a:t>。</a:t>
            </a:r>
            <a:endParaRPr lang="en-US" altLang="zh-CN" sz="2000" dirty="0" smtClean="0"/>
          </a:p>
          <a:p>
            <a:r>
              <a:rPr lang="en-US" altLang="zh-CN" sz="2400" dirty="0"/>
              <a:t>7</a:t>
            </a:r>
            <a:r>
              <a:rPr lang="zh-CN" altLang="en-US" sz="2400" dirty="0"/>
              <a:t>、</a:t>
            </a:r>
            <a:r>
              <a:rPr lang="en-US" altLang="zh-CN" sz="2400" dirty="0"/>
              <a:t>Cookie </a:t>
            </a:r>
            <a:r>
              <a:rPr lang="zh-CN" altLang="en-US" sz="2400" dirty="0" smtClean="0"/>
              <a:t>注入</a:t>
            </a:r>
            <a:r>
              <a:rPr lang="en-US" altLang="zh-CN" sz="2400" dirty="0" smtClean="0"/>
              <a:t>[1]</a:t>
            </a:r>
            <a:endParaRPr lang="zh-CN" altLang="en-US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084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 smtClean="0"/>
              <a:t>注入的危害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数据泄露</a:t>
            </a:r>
            <a:r>
              <a:rPr lang="zh-CN" altLang="en-US" dirty="0"/>
              <a:t>： 攻击者获取数据库中的用户名、密码、银行卡号等敏感信息。</a:t>
            </a:r>
          </a:p>
          <a:p>
            <a:r>
              <a:rPr lang="zh-CN" altLang="en-US" b="1" dirty="0"/>
              <a:t>权限提升</a:t>
            </a:r>
            <a:r>
              <a:rPr lang="zh-CN" altLang="en-US" dirty="0"/>
              <a:t>： 攻击者可能通过注入命令获得更高的访问权限。</a:t>
            </a:r>
          </a:p>
          <a:p>
            <a:r>
              <a:rPr lang="zh-CN" altLang="en-US" b="1" dirty="0"/>
              <a:t>数据篡改</a:t>
            </a:r>
            <a:r>
              <a:rPr lang="zh-CN" altLang="en-US" dirty="0"/>
              <a:t>： 数据库内容被修改或删除。</a:t>
            </a:r>
          </a:p>
          <a:p>
            <a:r>
              <a:rPr lang="zh-CN" altLang="en-US" b="1" dirty="0"/>
              <a:t>服务中断</a:t>
            </a:r>
            <a:r>
              <a:rPr lang="zh-CN" altLang="en-US" dirty="0"/>
              <a:t>： 恶意 </a:t>
            </a:r>
            <a:r>
              <a:rPr lang="en-US" altLang="zh-CN" dirty="0"/>
              <a:t>SQL </a:t>
            </a:r>
            <a:r>
              <a:rPr lang="zh-CN" altLang="en-US" dirty="0"/>
              <a:t>代码可能导致数据库崩溃，影响系统可用性。</a:t>
            </a:r>
          </a:p>
          <a:p>
            <a:r>
              <a:rPr lang="zh-CN" altLang="en-US" b="1" dirty="0"/>
              <a:t>执行系统命令</a:t>
            </a:r>
            <a:r>
              <a:rPr lang="zh-CN" altLang="en-US" dirty="0"/>
              <a:t>： 通过数据库扩展功能，攻击者可能直接操作操作系统</a:t>
            </a:r>
            <a:r>
              <a:rPr lang="zh-CN" altLang="en-US" dirty="0" smtClean="0"/>
              <a:t>。</a:t>
            </a:r>
            <a:r>
              <a:rPr lang="en-US" altLang="zh-CN" dirty="0" smtClean="0"/>
              <a:t>[1]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30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SpringMVC+MybatisPlus</a:t>
            </a:r>
            <a:r>
              <a:rPr lang="zh-CN" altLang="en-US" dirty="0" smtClean="0"/>
              <a:t>框架中的体现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MybatisPlus</a:t>
            </a:r>
            <a:r>
              <a:rPr lang="zh-CN" altLang="en-US" dirty="0" smtClean="0"/>
              <a:t>在</a:t>
            </a:r>
            <a:r>
              <a:rPr lang="en-US" altLang="zh-CN" dirty="0" err="1" smtClean="0"/>
              <a:t>SpringMVC</a:t>
            </a:r>
            <a:r>
              <a:rPr lang="zh-CN" altLang="en-US" dirty="0" smtClean="0"/>
              <a:t>框架中的作用是简化</a:t>
            </a:r>
            <a:r>
              <a:rPr lang="en-US" altLang="zh-CN" dirty="0" smtClean="0"/>
              <a:t>JDBC</a:t>
            </a:r>
            <a:r>
              <a:rPr lang="zh-CN" altLang="en-US" dirty="0" smtClean="0"/>
              <a:t>的操作，使得后端开发者更方便的连接数据库，类似的框架还有</a:t>
            </a:r>
            <a:r>
              <a:rPr lang="en-US" altLang="zh-CN" dirty="0" smtClean="0"/>
              <a:t>hibernate</a:t>
            </a:r>
            <a:r>
              <a:rPr lang="zh-CN" altLang="en-US" dirty="0" smtClean="0"/>
              <a:t>框架，它是一种</a:t>
            </a:r>
            <a:r>
              <a:rPr lang="en-US" altLang="zh-CN" dirty="0" smtClean="0"/>
              <a:t>ORM</a:t>
            </a:r>
            <a:r>
              <a:rPr lang="zh-CN" altLang="en-US" dirty="0" smtClean="0"/>
              <a:t>（对象关系映射）框架，不过在国内开发者中，</a:t>
            </a:r>
            <a:r>
              <a:rPr lang="en-US" altLang="zh-CN" dirty="0" err="1" smtClean="0"/>
              <a:t>MybatisPlus</a:t>
            </a:r>
            <a:r>
              <a:rPr lang="zh-CN" altLang="en-US" dirty="0" smtClean="0"/>
              <a:t>框架更为流行。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Mybatis</a:t>
            </a:r>
            <a:r>
              <a:rPr lang="en-US" altLang="zh-CN" dirty="0" smtClean="0"/>
              <a:t>-Plus</a:t>
            </a:r>
            <a:r>
              <a:rPr lang="zh-CN" altLang="en-US" dirty="0" smtClean="0"/>
              <a:t>框架中想构造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语句查询的方法有多种，其中包括继承</a:t>
            </a:r>
            <a:r>
              <a:rPr lang="en-US" altLang="zh-CN" dirty="0" err="1" smtClean="0"/>
              <a:t>BaseMapper</a:t>
            </a:r>
            <a:r>
              <a:rPr lang="zh-CN" altLang="en-US" dirty="0" smtClean="0"/>
              <a:t>，以及使用</a:t>
            </a:r>
            <a:r>
              <a:rPr lang="en-US" altLang="zh-CN" dirty="0" err="1" smtClean="0"/>
              <a:t>QueryWrapper</a:t>
            </a:r>
            <a:r>
              <a:rPr lang="zh-CN" altLang="en-US" dirty="0" smtClean="0"/>
              <a:t>条件构造器，还有</a:t>
            </a:r>
            <a:r>
              <a:rPr lang="en-US" altLang="zh-CN" dirty="0" smtClean="0"/>
              <a:t>Mapper.xml</a:t>
            </a:r>
            <a:r>
              <a:rPr lang="zh-CN" altLang="en-US" dirty="0" smtClean="0"/>
              <a:t>映射，这里仅讨论在</a:t>
            </a:r>
            <a:r>
              <a:rPr lang="en-US" altLang="zh-CN" dirty="0" smtClean="0"/>
              <a:t>Mapper.xml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语句传参过程中可能导致</a:t>
            </a:r>
            <a:r>
              <a:rPr lang="en-US" altLang="zh-CN" dirty="0" smtClean="0"/>
              <a:t>SQL</a:t>
            </a:r>
            <a:r>
              <a:rPr lang="zh-CN" altLang="en-US" dirty="0" smtClean="0"/>
              <a:t>注入的隐患。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5973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Mybatis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-Plus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框架中的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Mapper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层不同的传参形式对比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dirty="0"/>
              <a:t>&lt;!-- </a:t>
            </a:r>
            <a:r>
              <a:rPr lang="zh-CN" altLang="en-US" dirty="0"/>
              <a:t>使用</a:t>
            </a:r>
            <a:r>
              <a:rPr lang="en-US" altLang="zh-CN" dirty="0"/>
              <a:t>#{} </a:t>
            </a:r>
            <a:r>
              <a:rPr lang="zh-CN" altLang="en-US" dirty="0" smtClean="0"/>
              <a:t>可以防止</a:t>
            </a:r>
            <a:r>
              <a:rPr lang="en-US" altLang="zh-CN" dirty="0" smtClean="0"/>
              <a:t>SQL</a:t>
            </a:r>
            <a:r>
              <a:rPr lang="zh-CN" altLang="en-US" dirty="0" smtClean="0"/>
              <a:t>注入</a:t>
            </a:r>
            <a:r>
              <a:rPr lang="en-US" altLang="zh-CN" dirty="0" smtClean="0"/>
              <a:t>--&gt;</a:t>
            </a:r>
            <a:endParaRPr lang="en-US" altLang="zh-CN" dirty="0"/>
          </a:p>
          <a:p>
            <a:pPr marL="109220" indent="0">
              <a:buNone/>
            </a:pPr>
            <a:r>
              <a:rPr lang="en-US" altLang="zh-CN" dirty="0"/>
              <a:t>&lt;select id="</a:t>
            </a:r>
            <a:r>
              <a:rPr lang="en-US" altLang="zh-CN" dirty="0" smtClean="0"/>
              <a:t>findByUsername1" </a:t>
            </a:r>
            <a:r>
              <a:rPr lang="en-US" altLang="zh-CN" dirty="0" err="1"/>
              <a:t>parameterType</a:t>
            </a:r>
            <a:r>
              <a:rPr lang="en-US" altLang="zh-CN" dirty="0"/>
              <a:t>="</a:t>
            </a:r>
            <a:r>
              <a:rPr lang="en-US" altLang="zh-CN" dirty="0" err="1"/>
              <a:t>java.lang.String</a:t>
            </a:r>
            <a:r>
              <a:rPr lang="en-US" altLang="zh-CN" dirty="0"/>
              <a:t>" </a:t>
            </a:r>
            <a:r>
              <a:rPr lang="en-US" altLang="zh-CN" dirty="0" err="1"/>
              <a:t>resultType</a:t>
            </a:r>
            <a:r>
              <a:rPr lang="en-US" altLang="zh-CN" dirty="0"/>
              <a:t>="</a:t>
            </a:r>
            <a:r>
              <a:rPr lang="en-US" altLang="zh-CN" dirty="0" err="1" smtClean="0"/>
              <a:t>com.project.entity.UserEntity</a:t>
            </a:r>
            <a:r>
              <a:rPr lang="en-US" altLang="zh-CN" dirty="0" smtClean="0"/>
              <a:t>"&gt;</a:t>
            </a:r>
            <a:endParaRPr lang="en-US" altLang="zh-CN" dirty="0"/>
          </a:p>
          <a:p>
            <a:pPr marL="109220" indent="0">
              <a:buNone/>
            </a:pPr>
            <a:r>
              <a:rPr lang="en-US" altLang="zh-CN" dirty="0"/>
              <a:t>    select * from user where username like #{username}</a:t>
            </a:r>
          </a:p>
          <a:p>
            <a:pPr marL="109220" indent="0">
              <a:buNone/>
            </a:pPr>
            <a:r>
              <a:rPr lang="en-US" altLang="zh-CN" dirty="0"/>
              <a:t>&lt;/select&gt;</a:t>
            </a:r>
          </a:p>
          <a:p>
            <a:pPr marL="109220" indent="0">
              <a:buNone/>
            </a:pPr>
            <a:endParaRPr lang="en-US" altLang="zh-CN" dirty="0"/>
          </a:p>
          <a:p>
            <a:pPr marL="109220" indent="0">
              <a:buNone/>
            </a:pPr>
            <a:r>
              <a:rPr lang="en-US" altLang="zh-CN" dirty="0"/>
              <a:t>&lt;!-- </a:t>
            </a:r>
            <a:r>
              <a:rPr lang="zh-CN" altLang="en-US" dirty="0"/>
              <a:t>使用</a:t>
            </a:r>
            <a:r>
              <a:rPr lang="en-US" altLang="zh-CN" dirty="0" smtClean="0"/>
              <a:t>${},</a:t>
            </a:r>
            <a:r>
              <a:rPr lang="zh-CN" altLang="en-US" dirty="0" smtClean="0"/>
              <a:t> 不能防止</a:t>
            </a:r>
            <a:r>
              <a:rPr lang="en-US" altLang="zh-CN" dirty="0" smtClean="0"/>
              <a:t>SQL</a:t>
            </a:r>
            <a:r>
              <a:rPr lang="zh-CN" altLang="en-US" dirty="0" smtClean="0"/>
              <a:t>注入</a:t>
            </a:r>
            <a:r>
              <a:rPr lang="en-US" altLang="zh-CN" dirty="0" smtClean="0"/>
              <a:t>--&gt;</a:t>
            </a:r>
            <a:endParaRPr lang="en-US" altLang="zh-CN" dirty="0"/>
          </a:p>
          <a:p>
            <a:pPr marL="109220" indent="0">
              <a:buNone/>
            </a:pPr>
            <a:r>
              <a:rPr lang="en-US" altLang="zh-CN" dirty="0"/>
              <a:t>&lt;select id="findByUsername2" </a:t>
            </a:r>
            <a:r>
              <a:rPr lang="en-US" altLang="zh-CN" dirty="0" err="1"/>
              <a:t>parameterType</a:t>
            </a:r>
            <a:r>
              <a:rPr lang="en-US" altLang="zh-CN" dirty="0"/>
              <a:t>="</a:t>
            </a:r>
            <a:r>
              <a:rPr lang="en-US" altLang="zh-CN" dirty="0" err="1"/>
              <a:t>java.lang.String</a:t>
            </a:r>
            <a:r>
              <a:rPr lang="en-US" altLang="zh-CN" dirty="0"/>
              <a:t>" </a:t>
            </a:r>
            <a:r>
              <a:rPr lang="en-US" altLang="zh-CN" dirty="0" err="1"/>
              <a:t>resultType</a:t>
            </a:r>
            <a:r>
              <a:rPr lang="en-US" altLang="zh-CN" dirty="0"/>
              <a:t>="</a:t>
            </a:r>
            <a:r>
              <a:rPr lang="en-US" altLang="zh-CN" dirty="0" err="1" smtClean="0"/>
              <a:t>com.project.entity.UserEntity</a:t>
            </a:r>
            <a:r>
              <a:rPr lang="en-US" altLang="zh-CN" dirty="0" smtClean="0"/>
              <a:t>"&gt;</a:t>
            </a:r>
            <a:endParaRPr lang="en-US" altLang="zh-CN" dirty="0"/>
          </a:p>
          <a:p>
            <a:pPr marL="109220" indent="0">
              <a:buNone/>
            </a:pPr>
            <a:r>
              <a:rPr lang="en-US" altLang="zh-CN" dirty="0"/>
              <a:t>    select * from user where username like '%${value}%'</a:t>
            </a:r>
          </a:p>
          <a:p>
            <a:pPr marL="109220" indent="0">
              <a:buNone/>
            </a:pPr>
            <a:r>
              <a:rPr lang="en-US" altLang="zh-CN" dirty="0"/>
              <a:t>&lt;/select</a:t>
            </a:r>
            <a:r>
              <a:rPr lang="en-US" altLang="zh-CN" dirty="0" smtClean="0"/>
              <a:t>&gt;[2]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为什么使用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#{}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而不使用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${}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sz="2400" dirty="0" smtClean="0"/>
              <a:t>	</a:t>
            </a:r>
            <a:r>
              <a:rPr lang="en-US" altLang="zh-CN" dirty="0" smtClean="0"/>
              <a:t>#{}</a:t>
            </a:r>
            <a:r>
              <a:rPr lang="zh-CN" altLang="en-US" dirty="0"/>
              <a:t>匹配的是一个占位符，相当于</a:t>
            </a:r>
            <a:r>
              <a:rPr lang="en-US" altLang="zh-CN" dirty="0"/>
              <a:t>JDBC</a:t>
            </a:r>
            <a:r>
              <a:rPr lang="zh-CN" altLang="en-US" dirty="0"/>
              <a:t>中的一个</a:t>
            </a:r>
            <a:r>
              <a:rPr lang="en-US" altLang="zh-CN" dirty="0"/>
              <a:t>?</a:t>
            </a:r>
            <a:r>
              <a:rPr lang="zh-CN" altLang="en-US" dirty="0"/>
              <a:t>，会对一些敏感的字符进行</a:t>
            </a:r>
            <a:r>
              <a:rPr lang="zh-CN" altLang="en-US" b="1" dirty="0"/>
              <a:t>过滤</a:t>
            </a:r>
            <a:r>
              <a:rPr lang="zh-CN" altLang="en-US" dirty="0"/>
              <a:t>，编译过后会对传递的值加上双引号，因此可以防止</a:t>
            </a:r>
            <a:r>
              <a:rPr lang="en-US" altLang="zh-CN" dirty="0"/>
              <a:t>SQL</a:t>
            </a:r>
            <a:r>
              <a:rPr lang="zh-CN" altLang="en-US" dirty="0"/>
              <a:t>注入问题。</a:t>
            </a:r>
          </a:p>
          <a:p>
            <a:pPr marL="109220" indent="0">
              <a:buNone/>
            </a:pPr>
            <a:endParaRPr lang="zh-CN" altLang="en-US" dirty="0"/>
          </a:p>
          <a:p>
            <a:pPr marL="109220" indent="0">
              <a:buNone/>
            </a:pPr>
            <a:r>
              <a:rPr lang="en-US" altLang="zh-CN" dirty="0" smtClean="0"/>
              <a:t>	${}</a:t>
            </a:r>
            <a:r>
              <a:rPr lang="zh-CN" altLang="en-US" dirty="0"/>
              <a:t>匹配的是真实传递的值，传递过后，会与</a:t>
            </a:r>
            <a:r>
              <a:rPr lang="en-US" altLang="zh-CN" dirty="0" err="1"/>
              <a:t>sql</a:t>
            </a:r>
            <a:r>
              <a:rPr lang="zh-CN" altLang="en-US" dirty="0"/>
              <a:t>语句进行字符串</a:t>
            </a:r>
            <a:r>
              <a:rPr lang="zh-CN" altLang="en-US" b="1" dirty="0"/>
              <a:t>拼接</a:t>
            </a:r>
            <a:r>
              <a:rPr lang="zh-CN" altLang="en-US" dirty="0"/>
              <a:t>。</a:t>
            </a:r>
            <a:r>
              <a:rPr lang="en-US" altLang="zh-CN" dirty="0"/>
              <a:t>${}</a:t>
            </a:r>
            <a:r>
              <a:rPr lang="zh-CN" altLang="en-US" dirty="0"/>
              <a:t>会与其他</a:t>
            </a:r>
            <a:r>
              <a:rPr lang="en-US" altLang="zh-CN" dirty="0" err="1"/>
              <a:t>sql</a:t>
            </a:r>
            <a:r>
              <a:rPr lang="zh-CN" altLang="en-US" dirty="0"/>
              <a:t>进行字符串拼接，</a:t>
            </a:r>
            <a:r>
              <a:rPr lang="zh-CN" altLang="en-US" b="1" dirty="0"/>
              <a:t>不能预防</a:t>
            </a:r>
            <a:r>
              <a:rPr lang="en-US" altLang="zh-CN" b="1" dirty="0" err="1"/>
              <a:t>sql</a:t>
            </a:r>
            <a:r>
              <a:rPr lang="zh-CN" altLang="en-US" b="1" dirty="0"/>
              <a:t>注入问题</a:t>
            </a:r>
            <a:r>
              <a:rPr lang="zh-CN" altLang="en-US" b="1" dirty="0" smtClean="0"/>
              <a:t>。</a:t>
            </a:r>
            <a:r>
              <a:rPr lang="en-US" altLang="zh-CN" dirty="0" smtClean="0"/>
              <a:t>[2]</a:t>
            </a:r>
          </a:p>
          <a:p>
            <a:pPr marL="109220" indent="0">
              <a:buNone/>
            </a:pPr>
            <a:endParaRPr lang="en-US" altLang="zh-CN" dirty="0"/>
          </a:p>
          <a:p>
            <a:pPr marL="109220" indent="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综上，多数情况下，作为</a:t>
            </a:r>
            <a:r>
              <a:rPr lang="en-US" altLang="zh-CN" dirty="0" err="1" smtClean="0"/>
              <a:t>SpringMVC+Mybatis-Plus</a:t>
            </a:r>
            <a:r>
              <a:rPr lang="zh-CN" altLang="en-US" dirty="0" smtClean="0"/>
              <a:t>开发者最重要的开发规范之一：</a:t>
            </a:r>
            <a:r>
              <a:rPr lang="zh-CN" altLang="en-US" b="1" dirty="0" smtClean="0"/>
              <a:t>禁止在</a:t>
            </a:r>
            <a:r>
              <a:rPr lang="en-US" altLang="zh-CN" b="1" dirty="0" smtClean="0"/>
              <a:t>Mapper</a:t>
            </a:r>
            <a:r>
              <a:rPr lang="zh-CN" altLang="en-US" b="1" dirty="0" smtClean="0"/>
              <a:t>层以</a:t>
            </a:r>
            <a:r>
              <a:rPr lang="en-US" altLang="zh-CN" b="1" dirty="0" smtClean="0"/>
              <a:t>${}</a:t>
            </a:r>
            <a:r>
              <a:rPr lang="zh-CN" altLang="en-US" b="1" dirty="0" smtClean="0"/>
              <a:t>形式传递参数！</a:t>
            </a:r>
            <a:endParaRPr lang="zh-CN" altLang="zh-CN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PKI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系统风险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8"/>
          <p:cNvSpPr>
            <a:spLocks noGrp="1"/>
          </p:cNvSpPr>
          <p:nvPr>
            <p:ph sz="quarter" idx="4294967295"/>
          </p:nvPr>
        </p:nvSpPr>
        <p:spPr>
          <a:xfrm>
            <a:off x="839416" y="1412776"/>
            <a:ext cx="10693188" cy="5184576"/>
          </a:xfrm>
          <a:prstGeom prst="rect">
            <a:avLst/>
          </a:prstGeom>
        </p:spPr>
        <p:txBody>
          <a:bodyPr/>
          <a:lstStyle/>
          <a:p>
            <a:pPr marL="109220" indent="0">
              <a:buNone/>
            </a:pPr>
            <a:r>
              <a:rPr lang="en-US" altLang="zh-CN" sz="2400" b="1" dirty="0" smtClean="0"/>
              <a:t>PKI</a:t>
            </a:r>
            <a:r>
              <a:rPr lang="zh-CN" altLang="en-US" sz="2400" b="1" dirty="0" smtClean="0"/>
              <a:t>的运营风险</a:t>
            </a:r>
            <a:endParaRPr lang="en-US" altLang="zh-CN" sz="2400" b="1" dirty="0" smtClean="0"/>
          </a:p>
          <a:p>
            <a:pPr marL="109220" indent="0">
              <a:buNone/>
            </a:pPr>
            <a:endParaRPr lang="en-US" altLang="zh-CN" sz="2400" b="1" dirty="0"/>
          </a:p>
          <a:p>
            <a:pPr marL="109220" indent="0"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）我国</a:t>
            </a:r>
            <a:r>
              <a:rPr lang="zh-CN" altLang="en-US" sz="2400" b="1" dirty="0" smtClean="0"/>
              <a:t>几乎</a:t>
            </a:r>
            <a:r>
              <a:rPr lang="zh-CN" altLang="en-US" sz="2400" b="1" dirty="0"/>
              <a:t>所有最重要系统</a:t>
            </a:r>
            <a:r>
              <a:rPr lang="zh-CN" altLang="en-US" sz="2400" dirty="0"/>
              <a:t>都部署</a:t>
            </a:r>
            <a:r>
              <a:rPr lang="zh-CN" altLang="en-US" sz="2400" b="1" dirty="0"/>
              <a:t>美国</a:t>
            </a:r>
            <a:r>
              <a:rPr lang="en-US" altLang="zh-CN" sz="2400" b="1" dirty="0"/>
              <a:t>CA</a:t>
            </a:r>
            <a:r>
              <a:rPr lang="zh-CN" altLang="en-US" sz="2400" b="1" dirty="0"/>
              <a:t>签发的</a:t>
            </a:r>
            <a:r>
              <a:rPr lang="en-US" altLang="zh-CN" sz="2400" b="1" dirty="0"/>
              <a:t>SSL</a:t>
            </a:r>
            <a:r>
              <a:rPr lang="zh-CN" altLang="en-US" sz="2400" b="1" dirty="0" smtClean="0"/>
              <a:t>证书</a:t>
            </a:r>
            <a:r>
              <a:rPr lang="zh-CN" altLang="en-US" sz="2400" dirty="0" smtClean="0"/>
              <a:t>。</a:t>
            </a:r>
            <a:r>
              <a:rPr lang="en-US" altLang="zh-CN" sz="2400" dirty="0" smtClean="0"/>
              <a:t>[1]</a:t>
            </a:r>
          </a:p>
          <a:p>
            <a:pPr marL="109220" indent="0">
              <a:buNone/>
            </a:pP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400" dirty="0"/>
              <a:t>	</a:t>
            </a:r>
            <a:r>
              <a:rPr lang="zh-CN" altLang="en-US" sz="2400" dirty="0" smtClean="0"/>
              <a:t>目前</a:t>
            </a:r>
            <a:r>
              <a:rPr lang="en-US" altLang="zh-CN" sz="2400" dirty="0"/>
              <a:t>, </a:t>
            </a:r>
            <a:r>
              <a:rPr lang="zh-CN" altLang="en-US" sz="2400" dirty="0"/>
              <a:t>我国各网银网站、各大电商网站、第三方支付网站、网上证券基金网站等的可信网站身份几乎都是</a:t>
            </a:r>
            <a:r>
              <a:rPr lang="zh-CN" altLang="en-US" sz="2400" dirty="0" smtClean="0"/>
              <a:t>由美国</a:t>
            </a:r>
            <a:r>
              <a:rPr lang="en-US" altLang="zh-CN" sz="2400" dirty="0"/>
              <a:t>CA</a:t>
            </a:r>
            <a:r>
              <a:rPr lang="zh-CN" altLang="en-US" sz="2400" dirty="0"/>
              <a:t>来做身份</a:t>
            </a:r>
            <a:r>
              <a:rPr lang="zh-CN" altLang="en-US" sz="2400" dirty="0" smtClean="0"/>
              <a:t>验证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每年</a:t>
            </a:r>
            <a:r>
              <a:rPr lang="zh-CN" altLang="en-US" sz="2400" dirty="0"/>
              <a:t>花上亿</a:t>
            </a:r>
            <a:r>
              <a:rPr lang="zh-CN" altLang="en-US" sz="2400" dirty="0" smtClean="0"/>
              <a:t>元。</a:t>
            </a:r>
            <a:r>
              <a:rPr lang="en-US" altLang="zh-CN" sz="2400" dirty="0"/>
              <a:t> </a:t>
            </a:r>
            <a:r>
              <a:rPr lang="zh-CN" altLang="en-US" sz="2400" dirty="0"/>
              <a:t>美国</a:t>
            </a:r>
            <a:r>
              <a:rPr lang="en-US" altLang="zh-CN" sz="2400" dirty="0"/>
              <a:t>CA</a:t>
            </a:r>
            <a:r>
              <a:rPr lang="zh-CN" altLang="en-US" sz="2400" dirty="0"/>
              <a:t>在审查完我国银行、证券、电商、支付等单位的真实身份后</a:t>
            </a:r>
            <a:r>
              <a:rPr lang="zh-CN" altLang="en-US" sz="2400" dirty="0" smtClean="0"/>
              <a:t>签发</a:t>
            </a:r>
            <a:r>
              <a:rPr lang="zh-CN" altLang="en-US" sz="2400" dirty="0"/>
              <a:t>一张服务器证书给各个网站</a:t>
            </a:r>
            <a:r>
              <a:rPr lang="en-US" altLang="zh-CN" sz="2400" dirty="0"/>
              <a:t>, </a:t>
            </a:r>
            <a:r>
              <a:rPr lang="zh-CN" altLang="en-US" sz="2400" dirty="0"/>
              <a:t>用于证明网站的真实身份和用于网站与客户端之间的数据加密传输</a:t>
            </a:r>
            <a:r>
              <a:rPr lang="en-US" altLang="zh-CN" sz="2400" dirty="0"/>
              <a:t>, </a:t>
            </a:r>
            <a:r>
              <a:rPr lang="zh-CN" altLang="en-US" sz="2400" dirty="0"/>
              <a:t>保证网站</a:t>
            </a:r>
            <a:r>
              <a:rPr lang="zh-CN" altLang="en-US" sz="2400" dirty="0" smtClean="0"/>
              <a:t>的可信</a:t>
            </a:r>
            <a:r>
              <a:rPr lang="zh-CN" altLang="en-US" sz="2400" dirty="0"/>
              <a:t>身份和数据加密安全</a:t>
            </a:r>
            <a:r>
              <a:rPr lang="en-US" altLang="zh-CN" sz="2400" dirty="0"/>
              <a:t>, </a:t>
            </a:r>
            <a:r>
              <a:rPr lang="zh-CN" altLang="en-US" sz="2400" dirty="0"/>
              <a:t>也就是说</a:t>
            </a:r>
            <a:r>
              <a:rPr lang="en-US" altLang="zh-CN" sz="2400" dirty="0"/>
              <a:t>, </a:t>
            </a:r>
            <a:r>
              <a:rPr lang="zh-CN" altLang="en-US" sz="2400" dirty="0"/>
              <a:t>我国的网络空间的最重要的一端</a:t>
            </a:r>
            <a:r>
              <a:rPr lang="en-US" altLang="zh-CN" sz="2400" dirty="0"/>
              <a:t>, </a:t>
            </a:r>
            <a:r>
              <a:rPr lang="zh-CN" altLang="en-US" sz="2400" dirty="0"/>
              <a:t>服务器端的安全与可信是由美国</a:t>
            </a:r>
            <a:r>
              <a:rPr lang="en-US" altLang="zh-CN" sz="2400" dirty="0"/>
              <a:t>CA</a:t>
            </a:r>
            <a:r>
              <a:rPr lang="zh-CN" altLang="en-US" sz="2400" dirty="0"/>
              <a:t>来</a:t>
            </a:r>
            <a:r>
              <a:rPr lang="zh-CN" altLang="en-US" sz="2400" dirty="0" smtClean="0"/>
              <a:t>保障的。</a:t>
            </a:r>
            <a:r>
              <a:rPr lang="en-US" altLang="zh-CN" sz="2400" dirty="0" smtClean="0"/>
              <a:t>[1]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系统风险</a:t>
            </a:r>
          </a:p>
        </p:txBody>
      </p:sp>
      <p:sp>
        <p:nvSpPr>
          <p:cNvPr id="5" name="内容占位符 6"/>
          <p:cNvSpPr>
            <a:spLocks noGrp="1"/>
          </p:cNvSpPr>
          <p:nvPr>
            <p:ph sz="quarter" idx="4294967295"/>
          </p:nvPr>
        </p:nvSpPr>
        <p:spPr>
          <a:xfrm>
            <a:off x="479376" y="1124744"/>
            <a:ext cx="11305256" cy="5322094"/>
          </a:xfrm>
          <a:prstGeom prst="rect">
            <a:avLst/>
          </a:prstGeom>
        </p:spPr>
        <p:txBody>
          <a:bodyPr/>
          <a:lstStyle/>
          <a:p>
            <a:pPr marL="109220" indent="0"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）我国</a:t>
            </a:r>
            <a:r>
              <a:rPr lang="zh-CN" altLang="en-US" sz="2400" b="1" dirty="0"/>
              <a:t>几乎所有</a:t>
            </a:r>
            <a:r>
              <a:rPr lang="zh-CN" altLang="en-US" sz="2400" dirty="0"/>
              <a:t>最重要系统都部署</a:t>
            </a:r>
            <a:r>
              <a:rPr lang="zh-CN" altLang="en-US" sz="2400" b="1" dirty="0"/>
              <a:t>美国</a:t>
            </a:r>
            <a:r>
              <a:rPr lang="en-US" altLang="zh-CN" sz="2400" b="1" dirty="0"/>
              <a:t>CA</a:t>
            </a:r>
            <a:r>
              <a:rPr lang="zh-CN" altLang="en-US" sz="2400" b="1" dirty="0"/>
              <a:t>签发的</a:t>
            </a:r>
            <a:r>
              <a:rPr lang="en-US" altLang="zh-CN" sz="2400" b="1" dirty="0"/>
              <a:t>SSL</a:t>
            </a:r>
            <a:r>
              <a:rPr lang="zh-CN" altLang="en-US" sz="2400" b="1" dirty="0"/>
              <a:t>证书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109220" indent="0">
              <a:buNone/>
            </a:pPr>
            <a:endParaRPr lang="en-US" altLang="zh-CN" sz="2400" dirty="0"/>
          </a:p>
          <a:p>
            <a:pPr marL="109220" indent="0">
              <a:buNone/>
            </a:pPr>
            <a:r>
              <a:rPr lang="en-US" altLang="zh-CN" sz="2000" dirty="0" smtClean="0"/>
              <a:t>1</a:t>
            </a:r>
            <a:r>
              <a:rPr lang="en-US" altLang="zh-CN" sz="2000" dirty="0"/>
              <a:t>) </a:t>
            </a:r>
            <a:r>
              <a:rPr lang="zh-CN" altLang="en-US" sz="2000" b="1" dirty="0"/>
              <a:t>根</a:t>
            </a:r>
            <a:r>
              <a:rPr lang="en-US" altLang="zh-CN" sz="2000" b="1" dirty="0"/>
              <a:t>CA</a:t>
            </a:r>
            <a:r>
              <a:rPr lang="zh-CN" altLang="en-US" sz="2000" b="1" dirty="0"/>
              <a:t>停止证书签发风险</a:t>
            </a:r>
            <a:r>
              <a:rPr lang="en-US" altLang="zh-CN" sz="2000" dirty="0"/>
              <a:t>: </a:t>
            </a:r>
            <a:r>
              <a:rPr lang="zh-CN" altLang="en-US" sz="2000" dirty="0"/>
              <a:t>当证书注册依赖于其他国家根</a:t>
            </a:r>
            <a:r>
              <a:rPr lang="en-US" altLang="zh-CN" sz="2000" dirty="0"/>
              <a:t>CA, </a:t>
            </a:r>
            <a:r>
              <a:rPr lang="zh-CN" altLang="en-US" sz="2000" dirty="0"/>
              <a:t>一旦注册在其他国家的根</a:t>
            </a:r>
            <a:r>
              <a:rPr lang="en-US" altLang="zh-CN" sz="2000" dirty="0"/>
              <a:t>CA</a:t>
            </a:r>
            <a:r>
              <a:rPr lang="zh-CN" altLang="en-US" sz="2000" dirty="0"/>
              <a:t>对新的域名</a:t>
            </a:r>
            <a:r>
              <a:rPr lang="zh-CN" altLang="en-US" sz="2000" dirty="0" smtClean="0"/>
              <a:t>证书</a:t>
            </a:r>
            <a:r>
              <a:rPr lang="zh-CN" altLang="en-US" sz="2000" dirty="0"/>
              <a:t>停止签发服务或网络中断</a:t>
            </a:r>
            <a:r>
              <a:rPr lang="en-US" altLang="zh-CN" sz="2000" dirty="0"/>
              <a:t>, </a:t>
            </a:r>
            <a:r>
              <a:rPr lang="zh-CN" altLang="en-US" sz="2000" dirty="0"/>
              <a:t>如发生海底光缆意外断裂</a:t>
            </a:r>
            <a:r>
              <a:rPr lang="en-US" altLang="zh-CN" sz="2000" dirty="0"/>
              <a:t>, </a:t>
            </a:r>
            <a:r>
              <a:rPr lang="zh-CN" altLang="en-US" sz="2000" dirty="0"/>
              <a:t>则使用国外</a:t>
            </a:r>
            <a:r>
              <a:rPr lang="en-US" altLang="zh-CN" sz="2000" dirty="0"/>
              <a:t>CA</a:t>
            </a:r>
            <a:r>
              <a:rPr lang="zh-CN" altLang="en-US" sz="2000" dirty="0"/>
              <a:t>颁发的证书的系统就无法正常</a:t>
            </a:r>
            <a:r>
              <a:rPr lang="zh-CN" altLang="en-US" sz="2000" dirty="0" smtClean="0"/>
              <a:t>使用。</a:t>
            </a:r>
            <a:r>
              <a:rPr lang="en-US" altLang="zh-CN" sz="2000" dirty="0" smtClean="0"/>
              <a:t>[1]</a:t>
            </a:r>
          </a:p>
          <a:p>
            <a:pPr marL="109220" indent="0">
              <a:buNone/>
            </a:pPr>
            <a:endParaRPr lang="en-US" altLang="zh-CN" sz="2000" dirty="0" smtClean="0"/>
          </a:p>
          <a:p>
            <a:pPr marL="109220" indent="0">
              <a:buNone/>
            </a:pPr>
            <a:r>
              <a:rPr lang="en-US" altLang="zh-CN" sz="2000" dirty="0"/>
              <a:t>2) </a:t>
            </a:r>
            <a:r>
              <a:rPr lang="zh-CN" altLang="en-US" sz="2000" b="1" dirty="0"/>
              <a:t>根</a:t>
            </a:r>
            <a:r>
              <a:rPr lang="en-US" altLang="zh-CN" sz="2000" b="1" dirty="0"/>
              <a:t>CA</a:t>
            </a:r>
            <a:r>
              <a:rPr lang="zh-CN" altLang="en-US" sz="2000" b="1" dirty="0"/>
              <a:t>吊销已签发的证书风险</a:t>
            </a:r>
            <a:r>
              <a:rPr lang="en-US" altLang="zh-CN" sz="2000" dirty="0"/>
              <a:t>: </a:t>
            </a:r>
            <a:r>
              <a:rPr lang="zh-CN" altLang="en-US" sz="2000" dirty="0"/>
              <a:t>一旦注册在其他国家的根</a:t>
            </a:r>
            <a:r>
              <a:rPr lang="en-US" altLang="zh-CN" sz="2000" dirty="0"/>
              <a:t>CA</a:t>
            </a:r>
            <a:r>
              <a:rPr lang="zh-CN" altLang="en-US" sz="2000" dirty="0"/>
              <a:t>的证书被相应的根</a:t>
            </a:r>
            <a:r>
              <a:rPr lang="en-US" altLang="zh-CN" sz="2000" dirty="0"/>
              <a:t>CA</a:t>
            </a:r>
            <a:r>
              <a:rPr lang="zh-CN" altLang="en-US" sz="2000" dirty="0"/>
              <a:t>吊销</a:t>
            </a:r>
            <a:r>
              <a:rPr lang="en-US" altLang="zh-CN" sz="2000" dirty="0"/>
              <a:t>, </a:t>
            </a:r>
            <a:r>
              <a:rPr lang="zh-CN" altLang="en-US" sz="2000" dirty="0"/>
              <a:t>证书将失效</a:t>
            </a:r>
            <a:r>
              <a:rPr lang="en-US" altLang="zh-CN" sz="2000" dirty="0"/>
              <a:t>, </a:t>
            </a:r>
            <a:r>
              <a:rPr lang="zh-CN" altLang="en-US" sz="2000" dirty="0" smtClean="0"/>
              <a:t>对应</a:t>
            </a:r>
            <a:r>
              <a:rPr lang="zh-CN" altLang="en-US" sz="2000" dirty="0"/>
              <a:t>的域名网站的加密服务将消失</a:t>
            </a:r>
            <a:r>
              <a:rPr lang="en-US" altLang="zh-CN" sz="2000" dirty="0"/>
              <a:t>, </a:t>
            </a:r>
            <a:r>
              <a:rPr lang="zh-CN" altLang="en-US" sz="2000" dirty="0"/>
              <a:t>域名网站和用户之间加密服务将被中断</a:t>
            </a:r>
            <a:r>
              <a:rPr lang="en-US" altLang="zh-CN" sz="2000" dirty="0"/>
              <a:t>, </a:t>
            </a:r>
            <a:r>
              <a:rPr lang="zh-CN" altLang="en-US" sz="2000" dirty="0"/>
              <a:t>会引起相应系统的</a:t>
            </a:r>
            <a:r>
              <a:rPr lang="zh-CN" altLang="en-US" sz="2000" dirty="0" smtClean="0"/>
              <a:t>瘫痪。</a:t>
            </a:r>
            <a:r>
              <a:rPr lang="en-US" altLang="zh-CN" sz="2000" dirty="0" smtClean="0"/>
              <a:t>[1]</a:t>
            </a:r>
          </a:p>
          <a:p>
            <a:pPr marL="109220" indent="0">
              <a:buNone/>
            </a:pPr>
            <a:endParaRPr lang="en-US" altLang="zh-CN" sz="2000" dirty="0" smtClean="0"/>
          </a:p>
          <a:p>
            <a:pPr marL="109220" indent="0">
              <a:buNone/>
            </a:pPr>
            <a:r>
              <a:rPr lang="en-US" altLang="zh-CN" sz="2000" dirty="0"/>
              <a:t>3) </a:t>
            </a:r>
            <a:r>
              <a:rPr lang="zh-CN" altLang="en-US" sz="2000" b="1" dirty="0"/>
              <a:t>证书被篡改风险</a:t>
            </a:r>
            <a:r>
              <a:rPr lang="en-US" altLang="zh-CN" sz="2000" dirty="0"/>
              <a:t>: </a:t>
            </a:r>
            <a:r>
              <a:rPr lang="zh-CN" altLang="en-US" sz="2000" dirty="0"/>
              <a:t>依赖方信任的</a:t>
            </a:r>
            <a:r>
              <a:rPr lang="en-US" altLang="zh-CN" sz="2000" dirty="0"/>
              <a:t>CA</a:t>
            </a:r>
            <a:r>
              <a:rPr lang="zh-CN" altLang="en-US" sz="2000" dirty="0"/>
              <a:t>被攻击或执行恶意操作</a:t>
            </a:r>
            <a:r>
              <a:rPr lang="en-US" altLang="zh-CN" sz="2000" dirty="0"/>
              <a:t>, </a:t>
            </a:r>
            <a:r>
              <a:rPr lang="zh-CN" altLang="en-US" sz="2000" dirty="0"/>
              <a:t>签发包含虚假信息但可验证成功的服务器</a:t>
            </a:r>
            <a:r>
              <a:rPr lang="zh-CN" altLang="en-US" sz="2000" dirty="0" smtClean="0"/>
              <a:t>证书</a:t>
            </a:r>
            <a:r>
              <a:rPr lang="en-US" altLang="zh-CN" sz="2000" dirty="0"/>
              <a:t>, </a:t>
            </a:r>
            <a:r>
              <a:rPr lang="zh-CN" altLang="en-US" sz="2000" dirty="0"/>
              <a:t>则容易造成中间人攻击</a:t>
            </a:r>
            <a:r>
              <a:rPr lang="en-US" altLang="zh-CN" sz="2000" dirty="0"/>
              <a:t>, </a:t>
            </a:r>
            <a:r>
              <a:rPr lang="zh-CN" altLang="en-US" sz="2000" dirty="0"/>
              <a:t>致使对应网站被劫持到非法网站</a:t>
            </a:r>
            <a:r>
              <a:rPr lang="en-US" altLang="zh-CN" sz="2000" dirty="0"/>
              <a:t>. </a:t>
            </a:r>
            <a:r>
              <a:rPr lang="zh-CN" altLang="en-US" sz="2000" dirty="0"/>
              <a:t>目前中国用户访问网银系统的访问信息</a:t>
            </a:r>
            <a:r>
              <a:rPr lang="en-US" altLang="zh-CN" sz="2000" dirty="0"/>
              <a:t>, </a:t>
            </a:r>
            <a:r>
              <a:rPr lang="zh-CN" altLang="en-US" sz="2000" dirty="0"/>
              <a:t>如什么</a:t>
            </a:r>
            <a:r>
              <a:rPr lang="zh-CN" altLang="en-US" sz="2000" dirty="0" smtClean="0"/>
              <a:t>时候</a:t>
            </a:r>
            <a:r>
              <a:rPr lang="zh-CN" altLang="en-US" sz="2000" dirty="0"/>
              <a:t>访问</a:t>
            </a:r>
            <a:r>
              <a:rPr lang="en-US" altLang="zh-CN" sz="2000" dirty="0"/>
              <a:t>, </a:t>
            </a:r>
            <a:r>
              <a:rPr lang="zh-CN" altLang="en-US" sz="2000" dirty="0"/>
              <a:t>从哪里访问</a:t>
            </a:r>
            <a:r>
              <a:rPr lang="en-US" altLang="zh-CN" sz="2000" dirty="0"/>
              <a:t>, IP</a:t>
            </a:r>
            <a:r>
              <a:rPr lang="zh-CN" altLang="en-US" sz="2000" dirty="0"/>
              <a:t>地址和使用什么浏览器</a:t>
            </a:r>
            <a:r>
              <a:rPr lang="en-US" altLang="zh-CN" sz="2000" dirty="0"/>
              <a:t>, </a:t>
            </a:r>
            <a:r>
              <a:rPr lang="zh-CN" altLang="en-US" sz="2000" dirty="0"/>
              <a:t>每日有多少次访问中国的网银系统</a:t>
            </a:r>
            <a:r>
              <a:rPr lang="en-US" altLang="zh-CN" sz="2000" dirty="0"/>
              <a:t>, </a:t>
            </a:r>
            <a:r>
              <a:rPr lang="zh-CN" altLang="en-US" sz="2000" dirty="0"/>
              <a:t>多少次访问支付宝和淘宝网</a:t>
            </a:r>
            <a:r>
              <a:rPr lang="en-US" altLang="zh-CN" sz="2000" dirty="0"/>
              <a:t>, </a:t>
            </a:r>
            <a:r>
              <a:rPr lang="zh-CN" altLang="en-US" sz="2000" dirty="0"/>
              <a:t>这些重要的机密信息都</a:t>
            </a:r>
            <a:r>
              <a:rPr lang="zh-CN" altLang="en-US" sz="2000" b="1" dirty="0"/>
              <a:t>完全掌握在国外</a:t>
            </a:r>
            <a:r>
              <a:rPr lang="en-US" altLang="zh-CN" sz="2000" b="1" dirty="0"/>
              <a:t>CA</a:t>
            </a:r>
            <a:r>
              <a:rPr lang="zh-CN" altLang="en-US" sz="2000" b="1" dirty="0"/>
              <a:t>的手中</a:t>
            </a:r>
            <a:r>
              <a:rPr lang="en-US" altLang="zh-CN" sz="2000" dirty="0"/>
              <a:t>, </a:t>
            </a:r>
            <a:r>
              <a:rPr lang="zh-CN" altLang="en-US" sz="2000" dirty="0"/>
              <a:t>是非常危险</a:t>
            </a:r>
            <a:r>
              <a:rPr lang="zh-CN" altLang="en-US" sz="2000" dirty="0" smtClean="0"/>
              <a:t>的。</a:t>
            </a:r>
            <a:r>
              <a:rPr lang="en-US" altLang="zh-CN" sz="2000" dirty="0" smtClean="0"/>
              <a:t>[1]</a:t>
            </a:r>
            <a:endParaRPr lang="en-US" altLang="zh-CN" sz="20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系统风险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dirty="0"/>
              <a:t>(2) </a:t>
            </a:r>
            <a:r>
              <a:rPr lang="zh-CN" altLang="en-US" dirty="0"/>
              <a:t>很多重要系统都没有部署</a:t>
            </a:r>
            <a:r>
              <a:rPr lang="en-US" altLang="zh-CN" dirty="0"/>
              <a:t>SSL</a:t>
            </a:r>
            <a:r>
              <a:rPr lang="zh-CN" altLang="en-US" dirty="0" smtClean="0"/>
              <a:t>证书</a:t>
            </a:r>
            <a:endParaRPr lang="en-US" altLang="zh-CN" dirty="0" smtClean="0"/>
          </a:p>
          <a:p>
            <a:pPr marL="109220" indent="0">
              <a:buNone/>
            </a:pPr>
            <a:endParaRPr lang="en-US" altLang="zh-CN" dirty="0" smtClean="0"/>
          </a:p>
          <a:p>
            <a:pPr marL="10922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smtClean="0"/>
              <a:t>《</a:t>
            </a:r>
            <a:r>
              <a:rPr lang="zh-CN" altLang="en-US" sz="2000" dirty="0"/>
              <a:t>谷歌透明度报告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披露</a:t>
            </a:r>
            <a:r>
              <a:rPr lang="zh-CN" altLang="en-US" sz="2000" dirty="0"/>
              <a:t>的最新数据表明</a:t>
            </a:r>
            <a:r>
              <a:rPr lang="en-US" altLang="zh-CN" sz="2000" dirty="0"/>
              <a:t>, </a:t>
            </a:r>
            <a:r>
              <a:rPr lang="zh-CN" altLang="en-US" sz="2000" dirty="0"/>
              <a:t>近些年加密流量的访问有明显提升</a:t>
            </a:r>
            <a:r>
              <a:rPr lang="en-US" altLang="zh-CN" sz="2000" dirty="0"/>
              <a:t>. </a:t>
            </a:r>
            <a:r>
              <a:rPr lang="zh-CN" altLang="en-US" sz="2000" dirty="0" smtClean="0"/>
              <a:t>文献</a:t>
            </a:r>
            <a:r>
              <a:rPr lang="en-US" altLang="zh-CN" sz="2000" dirty="0" smtClean="0"/>
              <a:t>[1]</a:t>
            </a:r>
            <a:r>
              <a:rPr lang="zh-CN" altLang="en-US" sz="2000" dirty="0" smtClean="0"/>
              <a:t>中的图</a:t>
            </a:r>
            <a:r>
              <a:rPr lang="en-US" altLang="zh-CN" sz="2000" dirty="0"/>
              <a:t>8</a:t>
            </a:r>
            <a:r>
              <a:rPr lang="zh-CN" altLang="en-US" sz="2000" dirty="0"/>
              <a:t>显示了不同</a:t>
            </a:r>
            <a:r>
              <a:rPr lang="zh-CN" altLang="en-US" sz="2000" dirty="0" smtClean="0"/>
              <a:t>操作系统</a:t>
            </a:r>
            <a:r>
              <a:rPr lang="zh-CN" altLang="en-US" sz="2000" dirty="0"/>
              <a:t>平台上</a:t>
            </a:r>
            <a:r>
              <a:rPr lang="en-US" altLang="zh-CN" sz="2000" dirty="0"/>
              <a:t>Chrome </a:t>
            </a:r>
            <a:r>
              <a:rPr lang="zh-CN" altLang="en-US" sz="2000" dirty="0"/>
              <a:t>浏览器用户</a:t>
            </a:r>
            <a:r>
              <a:rPr lang="en-US" altLang="zh-CN" sz="2000" dirty="0"/>
              <a:t>HTTPS</a:t>
            </a:r>
            <a:r>
              <a:rPr lang="zh-CN" altLang="en-US" sz="2000" dirty="0"/>
              <a:t>访问的频次</a:t>
            </a:r>
            <a:r>
              <a:rPr lang="en-US" altLang="zh-CN" sz="2000" dirty="0"/>
              <a:t>, </a:t>
            </a:r>
            <a:r>
              <a:rPr lang="zh-CN" altLang="en-US" sz="2000" dirty="0"/>
              <a:t>可以看到从</a:t>
            </a:r>
            <a:r>
              <a:rPr lang="en-US" altLang="zh-CN" sz="2000" dirty="0"/>
              <a:t>2016</a:t>
            </a:r>
            <a:r>
              <a:rPr lang="zh-CN" altLang="en-US" sz="2000" dirty="0"/>
              <a:t>年开始到</a:t>
            </a:r>
            <a:r>
              <a:rPr lang="en-US" altLang="zh-CN" sz="2000" dirty="0"/>
              <a:t>2024</a:t>
            </a:r>
            <a:r>
              <a:rPr lang="zh-CN" altLang="en-US" sz="2000" dirty="0"/>
              <a:t>年加密访问流量有明显的</a:t>
            </a:r>
            <a:r>
              <a:rPr lang="zh-CN" altLang="en-US" sz="2000" dirty="0" smtClean="0"/>
              <a:t>增加</a:t>
            </a:r>
            <a:r>
              <a:rPr lang="en-US" altLang="zh-CN" sz="2000" dirty="0"/>
              <a:t>, </a:t>
            </a:r>
            <a:r>
              <a:rPr lang="zh-CN" altLang="en-US" sz="2000" dirty="0"/>
              <a:t>但是目前仍然有相当部分的流量</a:t>
            </a:r>
            <a:r>
              <a:rPr lang="zh-CN" altLang="en-US" sz="2000" b="1" dirty="0"/>
              <a:t>是非加密流量</a:t>
            </a:r>
            <a:r>
              <a:rPr lang="en-US" altLang="zh-CN" sz="2000" dirty="0"/>
              <a:t>, </a:t>
            </a:r>
            <a:r>
              <a:rPr lang="zh-CN" altLang="en-US" sz="2000" dirty="0"/>
              <a:t>特别是</a:t>
            </a:r>
            <a:r>
              <a:rPr lang="en-US" altLang="zh-CN" sz="2000" dirty="0"/>
              <a:t>Linux</a:t>
            </a:r>
            <a:r>
              <a:rPr lang="zh-CN" altLang="en-US" sz="2000" dirty="0"/>
              <a:t>操作系统和</a:t>
            </a:r>
            <a:r>
              <a:rPr lang="en-US" altLang="zh-CN" sz="2000" dirty="0"/>
              <a:t>Windows</a:t>
            </a:r>
            <a:r>
              <a:rPr lang="zh-CN" altLang="en-US" sz="2000" dirty="0"/>
              <a:t>操作系统中的用户</a:t>
            </a:r>
            <a:r>
              <a:rPr lang="en-US" altLang="zh-CN" sz="2000" dirty="0"/>
              <a:t>. </a:t>
            </a:r>
            <a:r>
              <a:rPr lang="zh-CN" altLang="en-US" sz="2000" dirty="0" smtClean="0"/>
              <a:t>我国很多</a:t>
            </a:r>
            <a:r>
              <a:rPr lang="zh-CN" altLang="en-US" sz="2000" dirty="0"/>
              <a:t>重要系统包括一些重要的政务部门和电子商务网站没有部署</a:t>
            </a:r>
            <a:r>
              <a:rPr lang="en-US" altLang="zh-CN" sz="2000" dirty="0"/>
              <a:t>SSL</a:t>
            </a:r>
            <a:r>
              <a:rPr lang="zh-CN" altLang="en-US" sz="2000" dirty="0"/>
              <a:t>证书</a:t>
            </a:r>
            <a:r>
              <a:rPr lang="en-US" altLang="zh-CN" sz="2000" dirty="0"/>
              <a:t>, </a:t>
            </a:r>
            <a:r>
              <a:rPr lang="zh-CN" altLang="en-US" sz="2000" dirty="0"/>
              <a:t>许多邮件系统都没有部署</a:t>
            </a:r>
            <a:r>
              <a:rPr lang="en-US" altLang="zh-CN" sz="2000" dirty="0"/>
              <a:t>SSL</a:t>
            </a:r>
            <a:r>
              <a:rPr lang="zh-CN" altLang="en-US" sz="2000" dirty="0" smtClean="0"/>
              <a:t>证书和</a:t>
            </a:r>
            <a:r>
              <a:rPr lang="zh-CN" altLang="en-US" sz="2000" dirty="0"/>
              <a:t>使用客户端证书来加密邮件</a:t>
            </a:r>
            <a:r>
              <a:rPr lang="en-US" altLang="zh-CN" sz="2000" dirty="0"/>
              <a:t>. </a:t>
            </a:r>
            <a:r>
              <a:rPr lang="zh-CN" altLang="en-US" sz="2000" dirty="0"/>
              <a:t>也就是说</a:t>
            </a:r>
            <a:r>
              <a:rPr lang="en-US" altLang="zh-CN" sz="2000" dirty="0"/>
              <a:t>: </a:t>
            </a:r>
            <a:r>
              <a:rPr lang="zh-CN" altLang="en-US" sz="2000" dirty="0"/>
              <a:t>这些重要系统中的机密信息都是</a:t>
            </a:r>
            <a:r>
              <a:rPr lang="zh-CN" altLang="en-US" sz="2000" b="1" dirty="0"/>
              <a:t>明文传输的</a:t>
            </a:r>
            <a:r>
              <a:rPr lang="en-US" altLang="zh-CN" sz="2000" b="1" dirty="0"/>
              <a:t>, </a:t>
            </a:r>
            <a:r>
              <a:rPr lang="zh-CN" altLang="en-US" sz="2000" b="1" dirty="0"/>
              <a:t>可以毫不费力地被偷走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无需费力去解密</a:t>
            </a:r>
            <a:r>
              <a:rPr lang="en-US" altLang="zh-CN" sz="2000" dirty="0"/>
              <a:t>. </a:t>
            </a:r>
            <a:r>
              <a:rPr lang="zh-CN" altLang="en-US" sz="2000" dirty="0"/>
              <a:t>为了确保电子政务网站和电子商务网站的用户机密信息安全</a:t>
            </a:r>
            <a:r>
              <a:rPr lang="en-US" altLang="zh-CN" sz="2000" dirty="0"/>
              <a:t>, </a:t>
            </a:r>
            <a:r>
              <a:rPr lang="zh-CN" altLang="en-US" sz="2000" dirty="0"/>
              <a:t>必须部署</a:t>
            </a:r>
            <a:r>
              <a:rPr lang="en-US" altLang="zh-CN" sz="2000" dirty="0"/>
              <a:t>SSL</a:t>
            </a:r>
            <a:r>
              <a:rPr lang="zh-CN" altLang="en-US" sz="2000" dirty="0"/>
              <a:t>证书来保证机密</a:t>
            </a:r>
            <a:r>
              <a:rPr lang="zh-CN" altLang="en-US" sz="2000" dirty="0" smtClean="0"/>
              <a:t>信息</a:t>
            </a:r>
            <a:r>
              <a:rPr lang="zh-CN" altLang="en-US" sz="2000" dirty="0"/>
              <a:t>安全</a:t>
            </a:r>
            <a:r>
              <a:rPr lang="en-US" altLang="zh-CN" sz="2000" dirty="0" smtClean="0"/>
              <a:t>.</a:t>
            </a:r>
          </a:p>
          <a:p>
            <a:pPr marL="10922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 smtClean="0"/>
              <a:t>同时</a:t>
            </a:r>
            <a:r>
              <a:rPr lang="en-US" altLang="zh-CN" sz="2000" dirty="0"/>
              <a:t>, </a:t>
            </a:r>
            <a:r>
              <a:rPr lang="zh-CN" altLang="en-US" sz="2000" dirty="0"/>
              <a:t>移动</a:t>
            </a:r>
            <a:r>
              <a:rPr lang="en-US" altLang="zh-CN" sz="2000" dirty="0"/>
              <a:t>APP</a:t>
            </a:r>
            <a:r>
              <a:rPr lang="zh-CN" altLang="en-US" sz="2000" dirty="0"/>
              <a:t>中的很多连接都没有使用</a:t>
            </a:r>
            <a:r>
              <a:rPr lang="en-US" altLang="zh-CN" sz="2000" dirty="0"/>
              <a:t>SSL, </a:t>
            </a:r>
            <a:r>
              <a:rPr lang="zh-CN" altLang="en-US" sz="2000" dirty="0"/>
              <a:t>其中包括个别银行的移动网银</a:t>
            </a:r>
            <a:r>
              <a:rPr lang="en-US" altLang="zh-CN" sz="2000" dirty="0"/>
              <a:t>APP, </a:t>
            </a:r>
            <a:r>
              <a:rPr lang="zh-CN" altLang="en-US" sz="2000" dirty="0"/>
              <a:t>各种社交</a:t>
            </a:r>
            <a:r>
              <a:rPr lang="en-US" altLang="zh-CN" sz="2000" dirty="0"/>
              <a:t>APP</a:t>
            </a:r>
            <a:r>
              <a:rPr lang="zh-CN" altLang="en-US" sz="2000" dirty="0"/>
              <a:t>等</a:t>
            </a:r>
            <a:r>
              <a:rPr lang="en-US" altLang="zh-CN" sz="2000" dirty="0"/>
              <a:t>. </a:t>
            </a:r>
            <a:r>
              <a:rPr lang="zh-CN" altLang="en-US" sz="2000" dirty="0"/>
              <a:t>而</a:t>
            </a:r>
            <a:r>
              <a:rPr lang="zh-CN" altLang="en-US" sz="2000" dirty="0" smtClean="0"/>
              <a:t>这些</a:t>
            </a:r>
            <a:r>
              <a:rPr lang="zh-CN" altLang="en-US" sz="2000" dirty="0"/>
              <a:t>裸奔的</a:t>
            </a:r>
            <a:r>
              <a:rPr lang="en-US" altLang="zh-CN" sz="2000" dirty="0"/>
              <a:t>APP</a:t>
            </a:r>
            <a:r>
              <a:rPr lang="zh-CN" altLang="en-US" sz="2000" dirty="0"/>
              <a:t>大量在各种免费</a:t>
            </a:r>
            <a:r>
              <a:rPr lang="en-US" altLang="zh-CN" sz="2000" dirty="0" err="1"/>
              <a:t>WiFi</a:t>
            </a:r>
            <a:r>
              <a:rPr lang="zh-CN" altLang="en-US" sz="2000" dirty="0"/>
              <a:t>上运行</a:t>
            </a:r>
            <a:r>
              <a:rPr lang="en-US" altLang="zh-CN" sz="2000" dirty="0"/>
              <a:t>. </a:t>
            </a:r>
            <a:r>
              <a:rPr lang="zh-CN" altLang="en-US" sz="2000" dirty="0"/>
              <a:t>由此可见</a:t>
            </a:r>
            <a:r>
              <a:rPr lang="en-US" altLang="zh-CN" sz="2000" dirty="0"/>
              <a:t>, </a:t>
            </a:r>
            <a:r>
              <a:rPr lang="zh-CN" altLang="en-US" sz="2000" dirty="0"/>
              <a:t>各种移动应用包括移动支付的安全问题也是非常严峻的</a:t>
            </a:r>
            <a:r>
              <a:rPr lang="en-US" altLang="zh-CN" sz="2000" dirty="0"/>
              <a:t>, </a:t>
            </a:r>
            <a:r>
              <a:rPr lang="zh-CN" altLang="en-US" sz="2000" dirty="0"/>
              <a:t>移动</a:t>
            </a:r>
            <a:r>
              <a:rPr lang="en-US" altLang="zh-CN" sz="2000" dirty="0"/>
              <a:t>APP</a:t>
            </a:r>
            <a:r>
              <a:rPr lang="zh-CN" altLang="en-US" sz="2000" dirty="0"/>
              <a:t>必须使用</a:t>
            </a:r>
            <a:r>
              <a:rPr lang="en-US" altLang="zh-CN" sz="2000" dirty="0"/>
              <a:t>HTTPS</a:t>
            </a:r>
            <a:r>
              <a:rPr lang="zh-CN" altLang="en-US" sz="2000" dirty="0"/>
              <a:t>与服务器通信</a:t>
            </a:r>
            <a:r>
              <a:rPr lang="en-US" altLang="zh-CN" sz="2000" dirty="0"/>
              <a:t>, </a:t>
            </a:r>
            <a:r>
              <a:rPr lang="zh-CN" altLang="en-US" sz="2000" dirty="0"/>
              <a:t>才能保证移动用户的机密信息安全</a:t>
            </a:r>
            <a:r>
              <a:rPr lang="en-US" altLang="zh-CN" sz="2000" dirty="0" smtClean="0"/>
              <a:t>.[1]</a:t>
            </a:r>
          </a:p>
          <a:p>
            <a:pPr marL="109220" indent="0">
              <a:buNone/>
            </a:pPr>
            <a:endParaRPr kumimoji="1" lang="en-US" altLang="zh-CN" sz="2000" dirty="0"/>
          </a:p>
          <a:p>
            <a:pPr marL="109220" indent="0">
              <a:buNone/>
            </a:pPr>
            <a:r>
              <a:rPr lang="zh-CN" altLang="en-US" sz="1100" dirty="0" smtClean="0"/>
              <a:t>注：</a:t>
            </a:r>
            <a:r>
              <a:rPr lang="en-US" altLang="zh-CN" sz="1100" dirty="0" smtClean="0"/>
              <a:t>SSL</a:t>
            </a:r>
            <a:r>
              <a:rPr lang="zh-CN" altLang="en-US" sz="1100" dirty="0"/>
              <a:t>证书是</a:t>
            </a:r>
            <a:r>
              <a:rPr lang="zh-CN" altLang="en-US" sz="1100" dirty="0" smtClean="0"/>
              <a:t>数字证书的</a:t>
            </a:r>
            <a:r>
              <a:rPr lang="zh-CN" altLang="en-US" sz="1100" dirty="0"/>
              <a:t>一种，类似于驾驶证、护照和营业执照的电子副本。因为配置在服务器上，也称为</a:t>
            </a:r>
            <a:r>
              <a:rPr lang="en-US" altLang="zh-CN" sz="1100" dirty="0"/>
              <a:t>SSL</a:t>
            </a:r>
            <a:r>
              <a:rPr lang="zh-CN" altLang="en-US" sz="1100" dirty="0"/>
              <a:t>服务器证书</a:t>
            </a:r>
            <a:r>
              <a:rPr lang="zh-CN" altLang="en-US" sz="1100" dirty="0" smtClean="0"/>
              <a:t>。</a:t>
            </a:r>
            <a:r>
              <a:rPr lang="en-US" altLang="zh-CN" sz="1100" dirty="0" smtClean="0"/>
              <a:t>[4]</a:t>
            </a:r>
            <a:endParaRPr lang="zh-CN" altLang="en-US" sz="1100" dirty="0"/>
          </a:p>
          <a:p>
            <a:pPr marL="109220" indent="0">
              <a:buNone/>
            </a:pPr>
            <a:r>
              <a:rPr lang="en-US" altLang="zh-CN" sz="1100" dirty="0"/>
              <a:t>SSL</a:t>
            </a:r>
            <a:r>
              <a:rPr lang="zh-CN" altLang="en-US" sz="1100" dirty="0"/>
              <a:t>证书通过在客户端浏览器和</a:t>
            </a:r>
            <a:r>
              <a:rPr lang="en-US" altLang="zh-CN" sz="1100" dirty="0"/>
              <a:t>web</a:t>
            </a:r>
            <a:r>
              <a:rPr lang="zh-CN" altLang="en-US" sz="1100" dirty="0"/>
              <a:t>浏览器之间建立一条</a:t>
            </a:r>
            <a:r>
              <a:rPr lang="en-US" altLang="zh-CN" sz="1100" dirty="0"/>
              <a:t>SSL</a:t>
            </a:r>
            <a:r>
              <a:rPr lang="zh-CN" altLang="en-US" sz="1100" dirty="0"/>
              <a:t>安全通道（</a:t>
            </a:r>
            <a:r>
              <a:rPr lang="en-US" altLang="zh-CN" sz="1100" dirty="0"/>
              <a:t>Secure socket layer(SSL)</a:t>
            </a:r>
            <a:r>
              <a:rPr lang="zh-CN" altLang="en-US" sz="1100" dirty="0"/>
              <a:t>，对传送的数据进行加密和隐藏；确保数据在传送中不被改变，保证数据的完整性，现已成为该领域中全球化的标准</a:t>
            </a:r>
            <a:r>
              <a:rPr lang="zh-CN" altLang="en-US" sz="1100" dirty="0" smtClean="0"/>
              <a:t>。</a:t>
            </a:r>
            <a:r>
              <a:rPr lang="en-US" altLang="zh-CN" sz="1100" dirty="0" smtClean="0"/>
              <a:t>[4]</a:t>
            </a:r>
            <a:endParaRPr lang="zh-CN" altLang="en-US" sz="1100" dirty="0"/>
          </a:p>
          <a:p>
            <a:pPr marL="109220" indent="0">
              <a:buNone/>
            </a:pPr>
            <a:endParaRPr kumimoji="1"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11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260648"/>
            <a:ext cx="10873208" cy="432048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PKI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系统风险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124745"/>
            <a:ext cx="11754176" cy="5505450"/>
          </a:xfrm>
        </p:spPr>
        <p:txBody>
          <a:bodyPr/>
          <a:lstStyle/>
          <a:p>
            <a:pPr marL="109220" indent="0">
              <a:buNone/>
            </a:pPr>
            <a:r>
              <a:rPr lang="en-US" altLang="zh-CN" dirty="0"/>
              <a:t>(3) </a:t>
            </a:r>
            <a:r>
              <a:rPr lang="zh-CN" altLang="en-US" dirty="0"/>
              <a:t>许多重要的系统部署了浏览器不信任的自签证</a:t>
            </a:r>
            <a:r>
              <a:rPr lang="zh-CN" altLang="en-US" dirty="0" smtClean="0"/>
              <a:t>书</a:t>
            </a:r>
            <a:endParaRPr lang="en-US" altLang="zh-CN" dirty="0" smtClean="0"/>
          </a:p>
          <a:p>
            <a:pPr marL="109220" indent="0">
              <a:buNone/>
            </a:pPr>
            <a:endParaRPr lang="en-US" altLang="zh-CN" dirty="0" smtClean="0"/>
          </a:p>
          <a:p>
            <a:pPr marL="109220" indent="0"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自</a:t>
            </a:r>
            <a:r>
              <a:rPr lang="zh-CN" altLang="en-US" sz="2000" dirty="0"/>
              <a:t>签名证书是自己颁发给自己的证书</a:t>
            </a:r>
            <a:r>
              <a:rPr lang="en-US" altLang="zh-CN" sz="2000" dirty="0"/>
              <a:t>, </a:t>
            </a:r>
            <a:r>
              <a:rPr lang="zh-CN" altLang="en-US" sz="2000" dirty="0"/>
              <a:t>即证书中的颁发者和主体名相同</a:t>
            </a:r>
            <a:r>
              <a:rPr lang="en-US" altLang="zh-CN" sz="2000" dirty="0"/>
              <a:t>, </a:t>
            </a:r>
            <a:r>
              <a:rPr lang="zh-CN" altLang="en-US" sz="2000" dirty="0"/>
              <a:t>这类证书是由网站或服务器的</a:t>
            </a:r>
            <a:r>
              <a:rPr lang="zh-CN" altLang="en-US" sz="2000" dirty="0" smtClean="0"/>
              <a:t>所有者</a:t>
            </a:r>
            <a:r>
              <a:rPr lang="zh-CN" altLang="en-US" sz="2000" dirty="0"/>
              <a:t>自己创建并签名的</a:t>
            </a:r>
            <a:r>
              <a:rPr lang="en-US" altLang="zh-CN" sz="2000" dirty="0"/>
              <a:t>, </a:t>
            </a:r>
            <a:r>
              <a:rPr lang="zh-CN" altLang="en-US" sz="2000" dirty="0"/>
              <a:t>没有经过第三方认证机构的验证</a:t>
            </a:r>
            <a:r>
              <a:rPr lang="en-US" altLang="zh-CN" sz="2000" dirty="0"/>
              <a:t>, </a:t>
            </a:r>
            <a:r>
              <a:rPr lang="zh-CN" altLang="en-US" sz="2000" dirty="0"/>
              <a:t>证书持有者可以自行决定其内容和真实性</a:t>
            </a:r>
            <a:r>
              <a:rPr lang="en-US" altLang="zh-CN" sz="2000" dirty="0"/>
              <a:t>, </a:t>
            </a:r>
            <a:r>
              <a:rPr lang="zh-CN" altLang="en-US" sz="2000" dirty="0"/>
              <a:t>这增加了</a:t>
            </a:r>
            <a:r>
              <a:rPr lang="zh-CN" altLang="en-US" sz="2000" dirty="0" smtClean="0"/>
              <a:t>伪造的</a:t>
            </a:r>
            <a:r>
              <a:rPr lang="zh-CN" altLang="en-US" sz="2000" dirty="0"/>
              <a:t>风险</a:t>
            </a:r>
            <a:r>
              <a:rPr lang="en-US" altLang="zh-CN" sz="2000" dirty="0"/>
              <a:t>, </a:t>
            </a:r>
            <a:r>
              <a:rPr lang="zh-CN" altLang="en-US" sz="2000" dirty="0"/>
              <a:t>由于自签证书的免费性和易用性</a:t>
            </a:r>
            <a:r>
              <a:rPr lang="en-US" altLang="zh-CN" sz="2000" dirty="0"/>
              <a:t>, </a:t>
            </a:r>
            <a:r>
              <a:rPr lang="zh-CN" altLang="en-US" sz="2000" dirty="0"/>
              <a:t>常被用于部署在测试平台上</a:t>
            </a:r>
            <a:r>
              <a:rPr lang="en-US" altLang="zh-CN" sz="2000" dirty="0"/>
              <a:t>. </a:t>
            </a:r>
            <a:endParaRPr lang="en-US" altLang="zh-CN" sz="2000" dirty="0" smtClean="0"/>
          </a:p>
          <a:p>
            <a:pPr marL="109220" indent="0"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根据文献</a:t>
            </a:r>
            <a:r>
              <a:rPr lang="en-US" altLang="zh-CN" sz="2000" dirty="0" smtClean="0"/>
              <a:t>[1]</a:t>
            </a:r>
            <a:r>
              <a:rPr lang="zh-CN" altLang="en-US" sz="2000" dirty="0" smtClean="0"/>
              <a:t>中参考文献</a:t>
            </a:r>
            <a:r>
              <a:rPr lang="en-US" altLang="zh-CN" sz="2000" dirty="0" smtClean="0"/>
              <a:t>[43,44]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测量结果显示</a:t>
            </a:r>
            <a:r>
              <a:rPr lang="en-US" altLang="zh-CN" sz="2000" dirty="0"/>
              <a:t>, </a:t>
            </a:r>
            <a:r>
              <a:rPr lang="zh-CN" altLang="en-US" sz="2000" dirty="0"/>
              <a:t>很多</a:t>
            </a:r>
            <a:r>
              <a:rPr lang="zh-CN" altLang="en-US" sz="2000" dirty="0" smtClean="0"/>
              <a:t>系统</a:t>
            </a:r>
            <a:r>
              <a:rPr lang="zh-CN" altLang="en-US" sz="2000" dirty="0"/>
              <a:t>部署了自签名证书</a:t>
            </a:r>
            <a:r>
              <a:rPr lang="en-US" altLang="zh-CN" sz="2000" dirty="0"/>
              <a:t>, </a:t>
            </a:r>
            <a:r>
              <a:rPr lang="zh-CN" altLang="en-US" sz="2000" dirty="0"/>
              <a:t>部署了自签证书当然比不部署证书的系统安全</a:t>
            </a:r>
            <a:r>
              <a:rPr lang="en-US" altLang="zh-CN" sz="2000" dirty="0"/>
              <a:t>, </a:t>
            </a:r>
            <a:r>
              <a:rPr lang="zh-CN" altLang="en-US" sz="2000" dirty="0"/>
              <a:t>但是如果用户都习惯了即使浏览器显示</a:t>
            </a:r>
            <a:r>
              <a:rPr lang="zh-CN" altLang="en-US" sz="2000" dirty="0" smtClean="0"/>
              <a:t>不信任</a:t>
            </a:r>
            <a:r>
              <a:rPr lang="zh-CN" altLang="en-US" sz="2000" dirty="0"/>
              <a:t>的安全警告也继续浏览的话</a:t>
            </a:r>
            <a:r>
              <a:rPr lang="en-US" altLang="zh-CN" sz="2000" dirty="0"/>
              <a:t>, </a:t>
            </a:r>
            <a:r>
              <a:rPr lang="zh-CN" altLang="en-US" sz="2000" dirty="0"/>
              <a:t>这就帮了欺诈网站和假冒网站的忙</a:t>
            </a:r>
            <a:r>
              <a:rPr lang="en-US" altLang="zh-CN" sz="2000" dirty="0"/>
              <a:t>, </a:t>
            </a:r>
            <a:r>
              <a:rPr lang="zh-CN" altLang="en-US" sz="2000" dirty="0"/>
              <a:t>因为假冒网站往往由于拿不到全球信任</a:t>
            </a:r>
            <a:r>
              <a:rPr lang="zh-CN" altLang="en-US" sz="2000" dirty="0" smtClean="0"/>
              <a:t>的证书</a:t>
            </a:r>
            <a:r>
              <a:rPr lang="zh-CN" altLang="en-US" sz="2000" dirty="0"/>
              <a:t>而采用自签证书</a:t>
            </a:r>
            <a:r>
              <a:rPr lang="en-US" altLang="zh-CN" sz="2000" dirty="0"/>
              <a:t>, </a:t>
            </a:r>
            <a:r>
              <a:rPr lang="zh-CN" altLang="en-US" sz="2000" dirty="0"/>
              <a:t>浏览器会有安全警告</a:t>
            </a:r>
            <a:r>
              <a:rPr lang="en-US" altLang="zh-CN" sz="2000" dirty="0"/>
              <a:t>, </a:t>
            </a:r>
            <a:r>
              <a:rPr lang="zh-CN" altLang="en-US" sz="2000" dirty="0"/>
              <a:t>但由于用户已经养成了继续浏览的习惯而遭遇中间人攻击</a:t>
            </a:r>
            <a:r>
              <a:rPr lang="en-US" altLang="zh-CN" sz="2000" dirty="0"/>
              <a:t>, </a:t>
            </a:r>
            <a:r>
              <a:rPr lang="zh-CN" altLang="en-US" sz="2000" dirty="0"/>
              <a:t>导致</a:t>
            </a:r>
            <a:r>
              <a:rPr lang="zh-CN" altLang="en-US" sz="2000" dirty="0" smtClean="0"/>
              <a:t>个人账户</a:t>
            </a:r>
            <a:r>
              <a:rPr lang="zh-CN" altLang="en-US" sz="2000" dirty="0"/>
              <a:t>被盗</a:t>
            </a:r>
            <a:r>
              <a:rPr lang="en-US" altLang="zh-CN" sz="2000" dirty="0"/>
              <a:t>. </a:t>
            </a:r>
            <a:endParaRPr lang="en-US" altLang="zh-CN" sz="2000" dirty="0" smtClean="0"/>
          </a:p>
          <a:p>
            <a:pPr marL="10922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 smtClean="0"/>
              <a:t>值得</a:t>
            </a:r>
            <a:r>
              <a:rPr lang="zh-CN" altLang="en-US" sz="2000" dirty="0"/>
              <a:t>注意的是</a:t>
            </a:r>
            <a:r>
              <a:rPr lang="en-US" altLang="zh-CN" sz="2000" dirty="0"/>
              <a:t>: </a:t>
            </a:r>
            <a:r>
              <a:rPr lang="zh-CN" altLang="en-US" sz="2000" dirty="0"/>
              <a:t>各个高校的</a:t>
            </a:r>
            <a:r>
              <a:rPr lang="en-US" altLang="zh-CN" sz="2000" dirty="0"/>
              <a:t>VPN</a:t>
            </a:r>
            <a:r>
              <a:rPr lang="zh-CN" altLang="en-US" sz="2000" dirty="0"/>
              <a:t>系统和各种需要登录的系统都在使用自签证书</a:t>
            </a:r>
            <a:r>
              <a:rPr lang="en-US" altLang="zh-CN" sz="2000" dirty="0"/>
              <a:t>, </a:t>
            </a:r>
            <a:r>
              <a:rPr lang="zh-CN" altLang="en-US" sz="2000" dirty="0"/>
              <a:t>正在不断“培养”</a:t>
            </a:r>
            <a:r>
              <a:rPr lang="zh-CN" altLang="en-US" sz="2000" dirty="0" smtClean="0"/>
              <a:t>大批学生</a:t>
            </a:r>
            <a:r>
              <a:rPr lang="zh-CN" altLang="en-US" sz="2000" dirty="0"/>
              <a:t>养成这种不安全的上网习惯</a:t>
            </a:r>
            <a:r>
              <a:rPr lang="en-US" altLang="zh-CN" sz="2000" dirty="0" smtClean="0"/>
              <a:t>![1]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PS</a:t>
            </a:r>
            <a:r>
              <a:rPr lang="zh-CN" altLang="en-US" sz="2000" dirty="0" smtClean="0"/>
              <a:t>：其实单位内网系统，甚至国家级的官网也有类似问题）</a:t>
            </a:r>
            <a:endParaRPr lang="en-US" altLang="zh-CN" sz="2000" dirty="0"/>
          </a:p>
          <a:p>
            <a:pPr marL="109220" indent="0">
              <a:buNone/>
            </a:pP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的技术风险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sz="800" dirty="0" smtClean="0"/>
              <a:t>    </a:t>
            </a:r>
            <a:endParaRPr lang="en-US" altLang="zh-CN" sz="800" dirty="0"/>
          </a:p>
          <a:p>
            <a:pPr marL="109220" indent="0">
              <a:buNone/>
            </a:pPr>
            <a:r>
              <a:rPr lang="en-US" altLang="zh-CN" sz="2400" dirty="0" smtClean="0"/>
              <a:t>(</a:t>
            </a:r>
            <a:r>
              <a:rPr lang="en-US" altLang="zh-CN" sz="2400" dirty="0"/>
              <a:t>1)</a:t>
            </a:r>
            <a:r>
              <a:rPr lang="zh-CN" altLang="en-US" sz="2400" dirty="0"/>
              <a:t>客户端在进行安全通信前需要验证服务器证书</a:t>
            </a:r>
            <a:r>
              <a:rPr lang="en-US" altLang="zh-CN" sz="2400" dirty="0"/>
              <a:t>, </a:t>
            </a:r>
            <a:r>
              <a:rPr lang="zh-CN" altLang="en-US" sz="2400" dirty="0"/>
              <a:t>如果客户端不进行验证或者不能正确验证</a:t>
            </a:r>
            <a:r>
              <a:rPr lang="en-US" altLang="zh-CN" sz="2400" dirty="0"/>
              <a:t>, </a:t>
            </a:r>
            <a:r>
              <a:rPr lang="zh-CN" altLang="en-US" sz="2400" dirty="0"/>
              <a:t>攻击者可以</a:t>
            </a:r>
            <a:r>
              <a:rPr lang="zh-CN" altLang="en-US" sz="2400" dirty="0" smtClean="0"/>
              <a:t>伪装</a:t>
            </a:r>
            <a:r>
              <a:rPr lang="zh-CN" altLang="en-US" sz="2400" dirty="0"/>
              <a:t>成合法的</a:t>
            </a:r>
            <a:r>
              <a:rPr lang="zh-CN" altLang="en-US" sz="2400" dirty="0" smtClean="0"/>
              <a:t>服务器</a:t>
            </a:r>
            <a:r>
              <a:rPr lang="en-US" altLang="zh-CN" sz="2400" dirty="0" smtClean="0"/>
              <a:t>,</a:t>
            </a:r>
            <a:r>
              <a:rPr lang="en-US" altLang="zh-CN" sz="2400" dirty="0"/>
              <a:t> </a:t>
            </a:r>
            <a:r>
              <a:rPr lang="zh-CN" altLang="en-US" sz="2400" dirty="0"/>
              <a:t>使用自己的非法证书与客户端建立</a:t>
            </a:r>
            <a:r>
              <a:rPr lang="en-US" altLang="zh-CN" sz="2400" dirty="0"/>
              <a:t>SSL/TLS</a:t>
            </a:r>
            <a:r>
              <a:rPr lang="zh-CN" altLang="en-US" sz="2400" dirty="0"/>
              <a:t>连接</a:t>
            </a:r>
            <a:r>
              <a:rPr lang="en-US" altLang="zh-CN" sz="2400" dirty="0"/>
              <a:t>, </a:t>
            </a:r>
            <a:r>
              <a:rPr lang="zh-CN" altLang="en-US" sz="2400" dirty="0"/>
              <a:t>或者在</a:t>
            </a:r>
            <a:r>
              <a:rPr lang="en-US" altLang="zh-CN" sz="2400" dirty="0"/>
              <a:t>CRL</a:t>
            </a:r>
            <a:r>
              <a:rPr lang="zh-CN" altLang="en-US" sz="2400" dirty="0"/>
              <a:t>更新之前使用已吊销的</a:t>
            </a:r>
            <a:r>
              <a:rPr lang="zh-CN" altLang="en-US" sz="2400" dirty="0" smtClean="0"/>
              <a:t>证书</a:t>
            </a:r>
            <a:r>
              <a:rPr lang="zh-CN" altLang="en-US" sz="2400" dirty="0"/>
              <a:t>并中断</a:t>
            </a:r>
            <a:r>
              <a:rPr lang="en-US" altLang="zh-CN" sz="2400" dirty="0"/>
              <a:t>OCSP</a:t>
            </a:r>
            <a:r>
              <a:rPr lang="zh-CN" altLang="en-US" sz="2400" dirty="0"/>
              <a:t>查询</a:t>
            </a:r>
            <a:r>
              <a:rPr lang="en-US" altLang="zh-CN" sz="2400" dirty="0"/>
              <a:t>, </a:t>
            </a:r>
            <a:r>
              <a:rPr lang="zh-CN" altLang="en-US" sz="2400" dirty="0"/>
              <a:t>从而窃听或篡改客户端与合法服务器之间的通信数据</a:t>
            </a:r>
            <a:r>
              <a:rPr lang="en-US" altLang="zh-CN" sz="2400" dirty="0" smtClean="0"/>
              <a:t>.</a:t>
            </a:r>
          </a:p>
          <a:p>
            <a:pPr marL="109220" indent="0">
              <a:buNone/>
            </a:pPr>
            <a:endParaRPr lang="en-US" altLang="zh-CN" sz="2400" dirty="0" smtClean="0"/>
          </a:p>
          <a:p>
            <a:pPr marL="109220" indent="0">
              <a:buNone/>
            </a:pPr>
            <a:r>
              <a:rPr lang="en-US" altLang="zh-CN" sz="2400" dirty="0"/>
              <a:t>(2)</a:t>
            </a:r>
            <a:r>
              <a:rPr lang="zh-CN" altLang="en-US" sz="2400" dirty="0"/>
              <a:t>被攻击或恶意</a:t>
            </a:r>
            <a:r>
              <a:rPr lang="en-US" altLang="zh-CN" sz="2400" dirty="0"/>
              <a:t>CA</a:t>
            </a:r>
            <a:r>
              <a:rPr lang="zh-CN" altLang="en-US" sz="2400" dirty="0"/>
              <a:t>执行恶意操作</a:t>
            </a:r>
            <a:r>
              <a:rPr lang="en-US" altLang="zh-CN" sz="2400" dirty="0"/>
              <a:t>, </a:t>
            </a:r>
            <a:r>
              <a:rPr lang="zh-CN" altLang="en-US" sz="2400" dirty="0"/>
              <a:t>签发包含虚假信息</a:t>
            </a:r>
            <a:r>
              <a:rPr lang="en-US" altLang="zh-CN" sz="2400" dirty="0"/>
              <a:t>, </a:t>
            </a:r>
            <a:r>
              <a:rPr lang="zh-CN" altLang="en-US" sz="2400" dirty="0"/>
              <a:t>如果用户信任的第三方公共</a:t>
            </a:r>
            <a:r>
              <a:rPr lang="en-US" altLang="zh-CN" sz="2400" dirty="0"/>
              <a:t>CA</a:t>
            </a:r>
            <a:r>
              <a:rPr lang="zh-CN" altLang="en-US" sz="2400" dirty="0"/>
              <a:t>本身从一些政治</a:t>
            </a:r>
            <a:r>
              <a:rPr lang="zh-CN" altLang="en-US" sz="2400" dirty="0" smtClean="0"/>
              <a:t>或利益</a:t>
            </a:r>
            <a:r>
              <a:rPr lang="zh-CN" altLang="en-US" sz="2400" dirty="0"/>
              <a:t>因素执行恶意操作</a:t>
            </a:r>
            <a:r>
              <a:rPr lang="en-US" altLang="zh-CN" sz="2400" dirty="0"/>
              <a:t>, </a:t>
            </a:r>
            <a:r>
              <a:rPr lang="zh-CN" altLang="en-US" sz="2400" dirty="0"/>
              <a:t>签发的证书虽然可以被用户验证通过</a:t>
            </a:r>
            <a:r>
              <a:rPr lang="en-US" altLang="zh-CN" sz="2400" dirty="0"/>
              <a:t>, </a:t>
            </a:r>
            <a:r>
              <a:rPr lang="zh-CN" altLang="en-US" sz="2400" dirty="0"/>
              <a:t>但由于证书存在恶意的虚假信息</a:t>
            </a:r>
            <a:r>
              <a:rPr lang="en-US" altLang="zh-CN" sz="2400" dirty="0"/>
              <a:t>, </a:t>
            </a:r>
            <a:r>
              <a:rPr lang="zh-CN" altLang="en-US" sz="2400" dirty="0"/>
              <a:t>容易对用户</a:t>
            </a:r>
            <a:r>
              <a:rPr lang="zh-CN" altLang="en-US" sz="2400" dirty="0" smtClean="0"/>
              <a:t>造成攻击</a:t>
            </a:r>
            <a:r>
              <a:rPr lang="en-US" altLang="zh-CN" sz="2400" dirty="0"/>
              <a:t>. </a:t>
            </a:r>
            <a:endParaRPr lang="en-US" altLang="zh-CN" sz="2400" dirty="0" smtClean="0"/>
          </a:p>
          <a:p>
            <a:pPr marL="109220" indent="0">
              <a:buNone/>
            </a:pPr>
            <a:endParaRPr lang="en-US" altLang="zh-CN" sz="2400" dirty="0"/>
          </a:p>
          <a:p>
            <a:pPr marL="109220" indent="0">
              <a:buNone/>
            </a:pPr>
            <a:r>
              <a:rPr lang="en-US" altLang="zh-CN" sz="2400" dirty="0"/>
              <a:t>(3)</a:t>
            </a:r>
            <a:r>
              <a:rPr lang="zh-CN" altLang="en-US" sz="2400" dirty="0"/>
              <a:t>使用证书的客户端存放过多的信任的根证书</a:t>
            </a:r>
            <a:r>
              <a:rPr lang="en-US" altLang="zh-CN" sz="2400" dirty="0"/>
              <a:t>, </a:t>
            </a:r>
            <a:r>
              <a:rPr lang="zh-CN" altLang="en-US" sz="2400" dirty="0"/>
              <a:t>为了和不同</a:t>
            </a:r>
            <a:r>
              <a:rPr lang="en-US" altLang="zh-CN" sz="2400" dirty="0"/>
              <a:t>CA</a:t>
            </a:r>
            <a:r>
              <a:rPr lang="zh-CN" altLang="en-US" sz="2400" dirty="0"/>
              <a:t>机构颁发证书的系统建立安全连接</a:t>
            </a:r>
            <a:r>
              <a:rPr lang="en-US" altLang="zh-CN" sz="2400" dirty="0"/>
              <a:t>, </a:t>
            </a:r>
            <a:r>
              <a:rPr lang="zh-CN" altLang="en-US" sz="2400" dirty="0"/>
              <a:t>一般</a:t>
            </a:r>
            <a:r>
              <a:rPr lang="zh-CN" altLang="en-US" sz="2400" dirty="0" smtClean="0"/>
              <a:t>在用户</a:t>
            </a:r>
            <a:r>
              <a:rPr lang="zh-CN" altLang="en-US" sz="2400" dirty="0"/>
              <a:t>浏览器和使用的操作系统中</a:t>
            </a:r>
            <a:r>
              <a:rPr lang="en-US" altLang="zh-CN" sz="2400" dirty="0"/>
              <a:t>, </a:t>
            </a:r>
            <a:r>
              <a:rPr lang="zh-CN" altLang="en-US" sz="2400" dirty="0"/>
              <a:t>都会预置大量的根证书</a:t>
            </a:r>
            <a:r>
              <a:rPr lang="en-US" altLang="zh-CN" sz="2400" dirty="0"/>
              <a:t>, </a:t>
            </a:r>
            <a:r>
              <a:rPr lang="zh-CN" altLang="en-US" sz="2400" dirty="0"/>
              <a:t>这些预置的默认信任的根证书对应的</a:t>
            </a:r>
            <a:r>
              <a:rPr lang="en-US" altLang="zh-CN" sz="2400" dirty="0"/>
              <a:t>CA</a:t>
            </a:r>
            <a:r>
              <a:rPr lang="zh-CN" altLang="en-US" sz="2400" dirty="0"/>
              <a:t>系统不一</a:t>
            </a:r>
            <a:r>
              <a:rPr lang="zh-CN" altLang="en-US" sz="2400" dirty="0" smtClean="0"/>
              <a:t>定都</a:t>
            </a:r>
            <a:r>
              <a:rPr lang="zh-CN" altLang="en-US" sz="2400" dirty="0"/>
              <a:t>是安全健壮的</a:t>
            </a:r>
            <a:r>
              <a:rPr lang="en-US" altLang="zh-CN" sz="2400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的技术风险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dirty="0"/>
              <a:t>(4)</a:t>
            </a:r>
            <a:r>
              <a:rPr lang="zh-CN" altLang="en-US" dirty="0"/>
              <a:t>单一的</a:t>
            </a:r>
            <a:r>
              <a:rPr lang="en-US" altLang="zh-CN" dirty="0"/>
              <a:t>CA</a:t>
            </a:r>
            <a:r>
              <a:rPr lang="zh-CN" altLang="en-US" dirty="0"/>
              <a:t>提供商通常是不健壮的</a:t>
            </a:r>
            <a:r>
              <a:rPr lang="en-US" altLang="zh-CN" dirty="0"/>
              <a:t>, </a:t>
            </a:r>
            <a:r>
              <a:rPr lang="zh-CN" altLang="en-US" dirty="0"/>
              <a:t>很容易出现单点失效问题</a:t>
            </a:r>
            <a:r>
              <a:rPr lang="en-US" altLang="zh-CN" dirty="0"/>
              <a:t>. </a:t>
            </a:r>
            <a:r>
              <a:rPr lang="zh-CN" altLang="en-US" dirty="0"/>
              <a:t>不管出于何种原因</a:t>
            </a:r>
            <a:r>
              <a:rPr lang="en-US" altLang="zh-CN" dirty="0"/>
              <a:t>, </a:t>
            </a:r>
            <a:r>
              <a:rPr lang="zh-CN" altLang="en-US" dirty="0"/>
              <a:t>比如运营操作出错</a:t>
            </a:r>
            <a:r>
              <a:rPr lang="zh-CN" altLang="en-US" dirty="0" smtClean="0"/>
              <a:t>或安全</a:t>
            </a:r>
            <a:r>
              <a:rPr lang="zh-CN" altLang="en-US" dirty="0"/>
              <a:t>问题</a:t>
            </a:r>
            <a:r>
              <a:rPr lang="en-US" altLang="zh-CN" dirty="0"/>
              <a:t>, </a:t>
            </a:r>
            <a:r>
              <a:rPr lang="zh-CN" altLang="en-US" dirty="0"/>
              <a:t>网络业务很可能变得无法使用</a:t>
            </a:r>
            <a:r>
              <a:rPr lang="en-US" altLang="zh-CN" dirty="0"/>
              <a:t>. </a:t>
            </a:r>
            <a:endParaRPr lang="en-US" altLang="zh-CN" dirty="0" smtClean="0"/>
          </a:p>
          <a:p>
            <a:pPr marL="109220" indent="0">
              <a:buNone/>
            </a:pPr>
            <a:endParaRPr lang="en-US" altLang="zh-CN" dirty="0"/>
          </a:p>
          <a:p>
            <a:pPr marL="109220" indent="0">
              <a:buNone/>
            </a:pPr>
            <a:r>
              <a:rPr lang="en-US" altLang="zh-CN" dirty="0"/>
              <a:t>(5) CA</a:t>
            </a:r>
            <a:r>
              <a:rPr lang="zh-CN" altLang="en-US" dirty="0"/>
              <a:t>在进行域名验证时</a:t>
            </a:r>
            <a:r>
              <a:rPr lang="en-US" altLang="zh-CN" dirty="0"/>
              <a:t>, </a:t>
            </a:r>
            <a:r>
              <a:rPr lang="zh-CN" altLang="en-US" dirty="0"/>
              <a:t>依赖于准确的域名信息</a:t>
            </a:r>
            <a:r>
              <a:rPr lang="en-US" altLang="zh-CN" dirty="0"/>
              <a:t>, </a:t>
            </a:r>
            <a:r>
              <a:rPr lang="zh-CN" altLang="en-US" dirty="0"/>
              <a:t>对</a:t>
            </a:r>
            <a:r>
              <a:rPr lang="en-US" altLang="zh-CN" dirty="0"/>
              <a:t>CA</a:t>
            </a:r>
            <a:r>
              <a:rPr lang="zh-CN" altLang="en-US" dirty="0"/>
              <a:t>接收准确</a:t>
            </a:r>
            <a:r>
              <a:rPr lang="en-US" altLang="zh-CN" dirty="0"/>
              <a:t>DNS</a:t>
            </a:r>
            <a:r>
              <a:rPr lang="zh-CN" altLang="en-US" dirty="0"/>
              <a:t>记录的能力的任何干扰</a:t>
            </a:r>
            <a:r>
              <a:rPr lang="en-US" altLang="zh-CN" dirty="0"/>
              <a:t>, </a:t>
            </a:r>
            <a:r>
              <a:rPr lang="zh-CN" altLang="en-US" dirty="0"/>
              <a:t>例如</a:t>
            </a:r>
            <a:r>
              <a:rPr lang="en-US" altLang="zh-CN" dirty="0"/>
              <a:t>, DNS </a:t>
            </a:r>
            <a:r>
              <a:rPr lang="zh-CN" altLang="en-US" dirty="0"/>
              <a:t>缓存中毒都可能导致证书颁发不正确</a:t>
            </a:r>
            <a:r>
              <a:rPr lang="en-US" altLang="zh-CN" dirty="0"/>
              <a:t>. </a:t>
            </a:r>
            <a:endParaRPr lang="en-US" altLang="zh-CN" dirty="0" smtClean="0"/>
          </a:p>
          <a:p>
            <a:pPr marL="109220" indent="0">
              <a:buNone/>
            </a:pPr>
            <a:endParaRPr lang="en-US" altLang="zh-CN" dirty="0"/>
          </a:p>
          <a:p>
            <a:pPr marL="109220" indent="0">
              <a:buNone/>
            </a:pPr>
            <a:r>
              <a:rPr lang="en-US" altLang="zh-CN" dirty="0"/>
              <a:t>(6) </a:t>
            </a:r>
            <a:r>
              <a:rPr lang="zh-CN" altLang="en-US" dirty="0"/>
              <a:t>目前很多恶意软件使用</a:t>
            </a:r>
            <a:r>
              <a:rPr lang="en-US" altLang="zh-CN" dirty="0"/>
              <a:t>SSL/TLS</a:t>
            </a:r>
            <a:r>
              <a:rPr lang="zh-CN" altLang="en-US" dirty="0"/>
              <a:t>加密技术对安全网站进行拦截或者钓鱼攻击</a:t>
            </a:r>
            <a:r>
              <a:rPr lang="en-US" altLang="zh-CN" dirty="0"/>
              <a:t>, </a:t>
            </a:r>
            <a:r>
              <a:rPr lang="zh-CN" altLang="en-US" dirty="0"/>
              <a:t>比如检测</a:t>
            </a:r>
            <a:r>
              <a:rPr lang="en-US" altLang="zh-CN" dirty="0"/>
              <a:t>HTTPS</a:t>
            </a:r>
            <a:r>
              <a:rPr lang="zh-CN" altLang="en-US" dirty="0"/>
              <a:t>流量</a:t>
            </a:r>
            <a:r>
              <a:rPr lang="zh-CN" altLang="en-US" dirty="0" smtClean="0"/>
              <a:t>的客户端</a:t>
            </a:r>
            <a:r>
              <a:rPr lang="zh-CN" altLang="en-US" dirty="0"/>
              <a:t>软件和网络中间盒通过充当透明代理</a:t>
            </a:r>
            <a:r>
              <a:rPr lang="en-US" altLang="zh-CN" dirty="0"/>
              <a:t>, </a:t>
            </a:r>
            <a:r>
              <a:rPr lang="zh-CN" altLang="en-US" dirty="0"/>
              <a:t>它们终止并解密客户端发起的</a:t>
            </a:r>
            <a:r>
              <a:rPr lang="en-US" altLang="zh-CN" dirty="0"/>
              <a:t>TLS</a:t>
            </a:r>
            <a:r>
              <a:rPr lang="zh-CN" altLang="en-US" dirty="0"/>
              <a:t>会话</a:t>
            </a:r>
            <a:r>
              <a:rPr lang="en-US" altLang="zh-CN" dirty="0"/>
              <a:t>, </a:t>
            </a:r>
            <a:r>
              <a:rPr lang="zh-CN" altLang="en-US" dirty="0"/>
              <a:t>分析内部</a:t>
            </a:r>
            <a:r>
              <a:rPr lang="en-US" altLang="zh-CN" dirty="0"/>
              <a:t>HTTP</a:t>
            </a:r>
            <a:r>
              <a:rPr lang="zh-CN" altLang="en-US" dirty="0"/>
              <a:t>明文</a:t>
            </a:r>
            <a:r>
              <a:rPr lang="en-US" altLang="zh-CN" dirty="0"/>
              <a:t>, </a:t>
            </a:r>
            <a:r>
              <a:rPr lang="zh-CN" altLang="en-US" dirty="0" smtClean="0"/>
              <a:t>然后</a:t>
            </a:r>
            <a:r>
              <a:rPr lang="zh-CN" altLang="en-US" dirty="0"/>
              <a:t>发起到目标网站的新</a:t>
            </a:r>
            <a:r>
              <a:rPr lang="en-US" altLang="zh-CN" dirty="0"/>
              <a:t>TLS</a:t>
            </a:r>
            <a:r>
              <a:rPr lang="zh-CN" altLang="en-US" dirty="0"/>
              <a:t>连接完成拦截攻击</a:t>
            </a:r>
            <a:r>
              <a:rPr lang="en-US" altLang="zh-CN" dirty="0"/>
              <a:t>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14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PKI</a:t>
            </a:r>
            <a:r>
              <a:rPr lang="zh-CN" altLang="en-US" dirty="0" smtClean="0"/>
              <a:t>的未来</a:t>
            </a:r>
            <a:r>
              <a:rPr lang="zh-CN" altLang="en-US" dirty="0"/>
              <a:t>工作展望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124745"/>
            <a:ext cx="11593288" cy="5322094"/>
          </a:xfrm>
        </p:spPr>
        <p:txBody>
          <a:bodyPr/>
          <a:lstStyle/>
          <a:p>
            <a:pPr marL="10922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PKI</a:t>
            </a:r>
            <a:r>
              <a:rPr lang="zh-CN" altLang="en-US" dirty="0"/>
              <a:t>架构的</a:t>
            </a:r>
            <a:r>
              <a:rPr lang="zh-CN" altLang="en-US" dirty="0" smtClean="0"/>
              <a:t>研究</a:t>
            </a:r>
            <a:endParaRPr lang="en-US" altLang="zh-CN" dirty="0" smtClean="0"/>
          </a:p>
          <a:p>
            <a:pPr marL="10922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）证书</a:t>
            </a:r>
            <a:r>
              <a:rPr lang="zh-CN" altLang="en-US" dirty="0"/>
              <a:t>撤销机制的</a:t>
            </a:r>
            <a:r>
              <a:rPr lang="zh-CN" altLang="en-US" dirty="0" smtClean="0"/>
              <a:t>研究</a:t>
            </a:r>
            <a:endParaRPr lang="en-US" altLang="zh-CN" dirty="0" smtClean="0"/>
          </a:p>
          <a:p>
            <a:pPr marL="10922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CT</a:t>
            </a:r>
            <a:r>
              <a:rPr lang="zh-CN" altLang="en-US" dirty="0"/>
              <a:t>日志的</a:t>
            </a:r>
            <a:r>
              <a:rPr lang="zh-CN" altLang="en-US" dirty="0" smtClean="0"/>
              <a:t>研究</a:t>
            </a:r>
            <a:endParaRPr lang="en-US" altLang="zh-CN" dirty="0" smtClean="0"/>
          </a:p>
          <a:p>
            <a:pPr marL="10922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r>
              <a:rPr lang="en-US" altLang="zh-CN" dirty="0" smtClean="0"/>
              <a:t>PKI</a:t>
            </a:r>
            <a:r>
              <a:rPr lang="zh-CN" altLang="en-US" dirty="0"/>
              <a:t>系统测量的</a:t>
            </a:r>
            <a:r>
              <a:rPr lang="zh-CN" altLang="en-US" dirty="0" smtClean="0"/>
              <a:t>研究</a:t>
            </a:r>
            <a:endParaRPr lang="en-US" altLang="zh-CN" dirty="0" smtClean="0"/>
          </a:p>
          <a:p>
            <a:pPr marL="10922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r>
              <a:rPr lang="en-US" altLang="zh-CN" dirty="0" smtClean="0"/>
              <a:t>PKI</a:t>
            </a:r>
            <a:r>
              <a:rPr lang="zh-CN" altLang="en-US" dirty="0"/>
              <a:t>系统风险检测技术的</a:t>
            </a:r>
            <a:r>
              <a:rPr lang="zh-CN" altLang="en-US" dirty="0" smtClean="0"/>
              <a:t>研究</a:t>
            </a:r>
            <a:endParaRPr lang="en-US" altLang="zh-CN" dirty="0" smtClean="0"/>
          </a:p>
          <a:p>
            <a:pPr marL="10922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6</a:t>
            </a:r>
            <a:r>
              <a:rPr lang="zh-CN" altLang="en-US" dirty="0" smtClean="0"/>
              <a:t>）</a:t>
            </a:r>
            <a:r>
              <a:rPr lang="en-US" altLang="zh-CN" dirty="0" smtClean="0"/>
              <a:t>PKI</a:t>
            </a:r>
            <a:r>
              <a:rPr lang="zh-CN" altLang="en-US" dirty="0"/>
              <a:t>系统风险防范技术的研究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057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参考文献及资料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0845" lvl="1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[1] </a:t>
            </a:r>
            <a:r>
              <a:rPr lang="en-US" altLang="zh-CN" dirty="0">
                <a:solidFill>
                  <a:srgbClr val="0000FF"/>
                </a:solidFill>
                <a:hlinkClick r:id="rId2"/>
              </a:rPr>
              <a:t>https://</a:t>
            </a:r>
            <a:r>
              <a:rPr lang="en-US" altLang="zh-CN" dirty="0" smtClean="0">
                <a:solidFill>
                  <a:srgbClr val="0000FF"/>
                </a:solidFill>
                <a:hlinkClick r:id="rId2"/>
              </a:rPr>
              <a:t>www.runoob.com/sql/sql-injection.html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 smtClean="0">
                <a:solidFill>
                  <a:srgbClr val="0000FF"/>
                </a:solidFill>
              </a:rPr>
              <a:t>菜鸟教程</a:t>
            </a:r>
            <a:r>
              <a:rPr lang="en-US" altLang="zh-CN" dirty="0" smtClean="0">
                <a:solidFill>
                  <a:srgbClr val="0000FF"/>
                </a:solidFill>
              </a:rPr>
              <a:t>-SQL </a:t>
            </a:r>
            <a:r>
              <a:rPr lang="zh-CN" altLang="en-US" dirty="0">
                <a:solidFill>
                  <a:srgbClr val="0000FF"/>
                </a:solidFill>
              </a:rPr>
              <a:t>注入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410845" lvl="1" indent="0"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[2</a:t>
            </a:r>
            <a:r>
              <a:rPr lang="en-US" altLang="zh-CN" dirty="0" smtClean="0">
                <a:solidFill>
                  <a:srgbClr val="0000FF"/>
                </a:solidFill>
              </a:rPr>
              <a:t>] </a:t>
            </a:r>
            <a:r>
              <a:rPr lang="en-US" altLang="zh-CN" dirty="0" smtClean="0">
                <a:solidFill>
                  <a:srgbClr val="0000FF"/>
                </a:solidFill>
                <a:hlinkClick r:id="rId3"/>
              </a:rPr>
              <a:t>https://zhuanlan.zhihu.com/p/468950000</a:t>
            </a:r>
            <a:r>
              <a:rPr lang="en-US" altLang="zh-CN" dirty="0">
                <a:solidFill>
                  <a:srgbClr val="0000FF"/>
                </a:solidFill>
              </a:rPr>
              <a:t> #{}</a:t>
            </a:r>
            <a:r>
              <a:rPr lang="zh-CN" altLang="en-US" dirty="0">
                <a:solidFill>
                  <a:srgbClr val="0000FF"/>
                </a:solidFill>
              </a:rPr>
              <a:t>如何防止</a:t>
            </a:r>
            <a:r>
              <a:rPr lang="en-US" altLang="zh-CN" dirty="0">
                <a:solidFill>
                  <a:srgbClr val="0000FF"/>
                </a:solidFill>
              </a:rPr>
              <a:t>SQL</a:t>
            </a:r>
            <a:r>
              <a:rPr lang="zh-CN" altLang="en-US" dirty="0">
                <a:solidFill>
                  <a:srgbClr val="0000FF"/>
                </a:solidFill>
              </a:rPr>
              <a:t>注入的？它的底层原理是什么</a:t>
            </a:r>
            <a:r>
              <a:rPr lang="zh-CN" altLang="en-US" dirty="0" smtClean="0">
                <a:solidFill>
                  <a:srgbClr val="0000FF"/>
                </a:solidFill>
              </a:rPr>
              <a:t>？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410845" lvl="1" indent="0">
              <a:buNone/>
            </a:pPr>
            <a:r>
              <a:rPr kumimoji="1" lang="en-US" altLang="zh-CN" dirty="0">
                <a:solidFill>
                  <a:srgbClr val="0000FF"/>
                </a:solidFill>
              </a:rPr>
              <a:t>[3] </a:t>
            </a:r>
            <a:r>
              <a:rPr kumimoji="1" lang="en-US" altLang="zh-CN" dirty="0" err="1">
                <a:solidFill>
                  <a:srgbClr val="0000FF"/>
                </a:solidFill>
              </a:rPr>
              <a:t>Lwin</a:t>
            </a:r>
            <a:r>
              <a:rPr kumimoji="1" lang="en-US" altLang="zh-CN" dirty="0">
                <a:solidFill>
                  <a:srgbClr val="0000FF"/>
                </a:solidFill>
              </a:rPr>
              <a:t> </a:t>
            </a:r>
            <a:r>
              <a:rPr kumimoji="1" lang="en-US" altLang="zh-CN" dirty="0" err="1">
                <a:solidFill>
                  <a:srgbClr val="0000FF"/>
                </a:solidFill>
              </a:rPr>
              <a:t>Khin</a:t>
            </a:r>
            <a:r>
              <a:rPr kumimoji="1" lang="en-US" altLang="zh-CN" dirty="0">
                <a:solidFill>
                  <a:srgbClr val="0000FF"/>
                </a:solidFill>
              </a:rPr>
              <a:t> </a:t>
            </a:r>
            <a:r>
              <a:rPr kumimoji="1" lang="en-US" altLang="zh-CN" dirty="0" err="1">
                <a:solidFill>
                  <a:srgbClr val="0000FF"/>
                </a:solidFill>
              </a:rPr>
              <a:t>Shar</a:t>
            </a:r>
            <a:r>
              <a:rPr kumimoji="1" lang="en-US" altLang="zh-CN" dirty="0">
                <a:solidFill>
                  <a:srgbClr val="0000FF"/>
                </a:solidFill>
              </a:rPr>
              <a:t>, </a:t>
            </a:r>
            <a:r>
              <a:rPr kumimoji="1" lang="en-US" altLang="zh-CN" dirty="0" err="1" smtClean="0">
                <a:solidFill>
                  <a:srgbClr val="0000FF"/>
                </a:solidFill>
              </a:rPr>
              <a:t>Hee</a:t>
            </a:r>
            <a:r>
              <a:rPr kumimoji="1" lang="en-US" altLang="zh-CN" dirty="0" smtClean="0">
                <a:solidFill>
                  <a:srgbClr val="0000FF"/>
                </a:solidFill>
              </a:rPr>
              <a:t> </a:t>
            </a:r>
            <a:r>
              <a:rPr kumimoji="1" lang="en-US" altLang="zh-CN" dirty="0" err="1">
                <a:solidFill>
                  <a:srgbClr val="0000FF"/>
                </a:solidFill>
              </a:rPr>
              <a:t>Beng</a:t>
            </a:r>
            <a:r>
              <a:rPr kumimoji="1" lang="en-US" altLang="zh-CN" dirty="0">
                <a:solidFill>
                  <a:srgbClr val="0000FF"/>
                </a:solidFill>
              </a:rPr>
              <a:t> </a:t>
            </a:r>
            <a:r>
              <a:rPr kumimoji="1" lang="en-US" altLang="zh-CN" dirty="0" err="1">
                <a:solidFill>
                  <a:srgbClr val="0000FF"/>
                </a:solidFill>
              </a:rPr>
              <a:t>Kuan</a:t>
            </a:r>
            <a:r>
              <a:rPr kumimoji="1" lang="en-US" altLang="zh-CN" dirty="0">
                <a:solidFill>
                  <a:srgbClr val="0000FF"/>
                </a:solidFill>
              </a:rPr>
              <a:t> Tan, Defeating SQL </a:t>
            </a:r>
            <a:r>
              <a:rPr kumimoji="1" lang="en-US" altLang="zh-CN" dirty="0" smtClean="0">
                <a:solidFill>
                  <a:srgbClr val="0000FF"/>
                </a:solidFill>
              </a:rPr>
              <a:t>Injection[J]</a:t>
            </a:r>
            <a:r>
              <a:rPr kumimoji="1" lang="nl-NL" altLang="zh-CN" dirty="0">
                <a:solidFill>
                  <a:srgbClr val="0000FF"/>
                </a:solidFill>
              </a:rPr>
              <a:t> </a:t>
            </a:r>
            <a:r>
              <a:rPr kumimoji="1" lang="nl-NL" altLang="zh-CN" dirty="0" smtClean="0">
                <a:solidFill>
                  <a:srgbClr val="0000FF"/>
                </a:solidFill>
              </a:rPr>
              <a:t>Computer, Mar</a:t>
            </a:r>
            <a:r>
              <a:rPr kumimoji="1" lang="nl-NL" altLang="zh-CN" dirty="0">
                <a:solidFill>
                  <a:srgbClr val="0000FF"/>
                </a:solidFill>
              </a:rPr>
              <a:t>. 2013, pp. 69-77, vol. 46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16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致谢时间到了！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39416" y="2205580"/>
            <a:ext cx="103691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 smtClean="0">
                <a:latin typeface="宋体" panose="02010600030101010101" pitchFamily="2" charset="-122"/>
              </a:rPr>
              <a:t>   谢谢</a:t>
            </a:r>
            <a:r>
              <a:rPr lang="zh-CN" altLang="en-US" sz="4800" dirty="0" smtClean="0">
                <a:latin typeface="宋体" panose="02010600030101010101" pitchFamily="2" charset="-122"/>
              </a:rPr>
              <a:t>大家观看，敬请批评指正！</a:t>
            </a:r>
            <a:endParaRPr lang="zh-CN" altLang="en-US" sz="4800" dirty="0">
              <a:latin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17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15755" y="980728"/>
            <a:ext cx="11956909" cy="5544615"/>
          </a:xfrm>
        </p:spPr>
        <p:txBody>
          <a:bodyPr/>
          <a:lstStyle/>
          <a:p>
            <a:pPr marL="10922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AzMzQzZmE5MmEyMTE0YTA3N2NmOWIwZTFlMTc3Zj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市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1431</TotalTime>
  <Words>634</Words>
  <Application>Microsoft Office PowerPoint</Application>
  <PresentationFormat>宽屏</PresentationFormat>
  <Paragraphs>136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Franklin Gothic Book</vt:lpstr>
      <vt:lpstr>黑体</vt:lpstr>
      <vt:lpstr>宋体</vt:lpstr>
      <vt:lpstr>微软雅黑</vt:lpstr>
      <vt:lpstr>Arial</vt:lpstr>
      <vt:lpstr>Calibri</vt:lpstr>
      <vt:lpstr>Franklin Gothic Medium</vt:lpstr>
      <vt:lpstr>Georgia</vt:lpstr>
      <vt:lpstr>Times New Roman</vt:lpstr>
      <vt:lpstr>Wingdings 2</vt:lpstr>
      <vt:lpstr>都市</vt:lpstr>
      <vt:lpstr>SQL注入及其防御策略</vt:lpstr>
      <vt:lpstr>SQL注入</vt:lpstr>
      <vt:lpstr>SQL注入举例</vt:lpstr>
      <vt:lpstr>常见 SQL 注入</vt:lpstr>
      <vt:lpstr>SQL注入的危害</vt:lpstr>
      <vt:lpstr>在SpringMVC+MybatisPlus框架中的体现</vt:lpstr>
      <vt:lpstr>在Mybatis-Plus框架中的Mapper层不同的传参形式对比</vt:lpstr>
      <vt:lpstr>为什么使用#{}而不使用${}？</vt:lpstr>
      <vt:lpstr>PKI系统风险</vt:lpstr>
      <vt:lpstr>PKI系统风险</vt:lpstr>
      <vt:lpstr>PKI系统风险</vt:lpstr>
      <vt:lpstr>PKI系统风险</vt:lpstr>
      <vt:lpstr>PKI的技术风险</vt:lpstr>
      <vt:lpstr>PKI的技术风险</vt:lpstr>
      <vt:lpstr>PKI的未来工作展望</vt:lpstr>
      <vt:lpstr>参考文献及资料</vt:lpstr>
      <vt:lpstr>致谢时间到了！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丁莹</dc:creator>
  <cp:lastModifiedBy>Administrator</cp:lastModifiedBy>
  <cp:revision>1035</cp:revision>
  <cp:lastPrinted>2013-08-04T08:17:00Z</cp:lastPrinted>
  <dcterms:created xsi:type="dcterms:W3CDTF">2021-09-02T08:34:00Z</dcterms:created>
  <dcterms:modified xsi:type="dcterms:W3CDTF">2025-11-20T08:15:29Z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196E729C3F264BB5A1B47B7CCEA6F15A</vt:lpwstr>
  </property>
  <property fmtid="{D5CDD505-2E9C-101B-9397-08002B2CF9AE}" pid="3" name="KSOProductBuildVer">
    <vt:lpwstr>2052-12.1.0.19770</vt:lpwstr>
  </property>
</Properties>
</file>